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36"/>
  </p:notesMasterIdLst>
  <p:handoutMasterIdLst>
    <p:handoutMasterId r:id="rId37"/>
  </p:handoutMasterIdLst>
  <p:sldIdLst>
    <p:sldId id="400" r:id="rId5"/>
    <p:sldId id="385" r:id="rId6"/>
    <p:sldId id="378" r:id="rId7"/>
    <p:sldId id="386" r:id="rId8"/>
    <p:sldId id="387" r:id="rId9"/>
    <p:sldId id="405" r:id="rId10"/>
    <p:sldId id="401" r:id="rId11"/>
    <p:sldId id="389" r:id="rId12"/>
    <p:sldId id="406" r:id="rId13"/>
    <p:sldId id="390" r:id="rId14"/>
    <p:sldId id="410" r:id="rId15"/>
    <p:sldId id="395" r:id="rId16"/>
    <p:sldId id="407" r:id="rId17"/>
    <p:sldId id="417" r:id="rId18"/>
    <p:sldId id="411" r:id="rId19"/>
    <p:sldId id="391" r:id="rId20"/>
    <p:sldId id="371" r:id="rId21"/>
    <p:sldId id="408" r:id="rId22"/>
    <p:sldId id="404" r:id="rId23"/>
    <p:sldId id="392" r:id="rId24"/>
    <p:sldId id="409" r:id="rId25"/>
    <p:sldId id="403" r:id="rId26"/>
    <p:sldId id="418" r:id="rId27"/>
    <p:sldId id="397" r:id="rId28"/>
    <p:sldId id="419" r:id="rId29"/>
    <p:sldId id="346" r:id="rId30"/>
    <p:sldId id="412" r:id="rId31"/>
    <p:sldId id="413" r:id="rId32"/>
    <p:sldId id="414" r:id="rId33"/>
    <p:sldId id="416" r:id="rId34"/>
    <p:sldId id="415" r:id="rId35"/>
  </p:sldIdLst>
  <p:sldSz cx="12192000"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27856-6868-49D9-8005-EB7C47BD2B04}" v="533" dt="2026-05-09T15:38:04.189"/>
    <p1510:client id="{4C7DE785-BD27-4223-9926-257C1716AF3D}" v="137" dt="2026-05-09T12:59:58.405"/>
    <p1510:client id="{555FA241-83E0-4480-B886-F6CA10DD8964}" v="170" dt="2026-05-08T16:39:50.568"/>
    <p1510:client id="{743F445B-8648-411E-A048-CBE0D86E17B4}" v="683" dt="2026-05-08T11:52:13.374"/>
    <p1510:client id="{BDF7DF8E-1B5C-4E8D-9865-6A9F328AD1E9}" v="65" dt="2026-05-09T14:15:36.734"/>
    <p1510:client id="{E0FDB92A-4EA3-443B-BF1F-7C57C83F837E}" v="139" dt="2026-05-09T16:26:20.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62" y="2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5/9/2026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5/9/2026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2.svg"/><Relationship Id="rId4"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svg"/><Relationship Id="rId7"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5.svg"/><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5/9/2026</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5/9/2026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5/9/2026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5/9/2026</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5/9/2026</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5/9/2026</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5/9/2026</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5/9/2026</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5/9/2026</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5/9/2026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5/9/2026</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5/9/2026</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5/9/2026</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5/9/2026</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5/9/2026</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5/9/2026</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5/9/2026</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5/9/2026</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5/9/2026</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5/9/2026</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5/9/2026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5/9/2026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5/9/2026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5/9/2026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5/9/2026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5/9/2026</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5/9/2026</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5/9/2026</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5/9/2026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5/9/2026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5/9/2026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5/9/2026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5/9/2026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5/9/2026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5/9/2026</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5/9/2026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NULL"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8" y="469911"/>
            <a:ext cx="6444004" cy="3626477"/>
          </a:xfrm>
        </p:spPr>
        <p:txBody>
          <a:bodyPr anchor="b" anchorCtr="0">
            <a:normAutofit/>
          </a:bodyPr>
          <a:lstStyle/>
          <a:p>
            <a:r>
              <a:rPr lang="en-US" altLang="zh-CN" dirty="0">
                <a:cs typeface="Poppins SemiBold"/>
              </a:rPr>
              <a:t>Retail Sales Analysis with Python : Walmart </a:t>
            </a:r>
            <a:r>
              <a:rPr lang="en-US" altLang="zh-CN">
                <a:cs typeface="Poppins SemiBold"/>
              </a:rPr>
              <a:t>Case Study</a:t>
            </a:r>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8" y="4284643"/>
            <a:ext cx="6027061" cy="1245913"/>
          </a:xfrm>
        </p:spPr>
        <p:txBody>
          <a:bodyPr/>
          <a:lstStyle/>
          <a:p>
            <a:r>
              <a:rPr lang="en-US" altLang="zh-CN" dirty="0">
                <a:cs typeface="Poppins SemiBold"/>
              </a:rPr>
              <a:t>Exploring The Impact of Temperature, Holidays and Economic </a:t>
            </a:r>
            <a:r>
              <a:rPr lang="en-US" altLang="zh-CN">
                <a:cs typeface="Poppins SemiBold"/>
              </a:rPr>
              <a:t>Factor</a:t>
            </a:r>
            <a:r>
              <a:rPr lang="en-US" altLang="zh-CN" dirty="0">
                <a:cs typeface="Poppins SemiBold"/>
              </a:rPr>
              <a:t> on Weekly Sales</a:t>
            </a:r>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660399" y="5823597"/>
            <a:ext cx="2398389" cy="239712"/>
          </a:xfrm>
        </p:spPr>
        <p:txBody>
          <a:bodyPr/>
          <a:lstStyle/>
          <a:p>
            <a:r>
              <a:rPr lang="en-US" altLang="zh-CN">
                <a:cs typeface="Poppins"/>
              </a:rPr>
              <a:t>Aditi Shah</a:t>
            </a:r>
            <a:endParaRPr lang="en-US" altLang="zh-CN" dirty="0">
              <a:cs typeface="Poppins"/>
            </a:endParaRPr>
          </a:p>
        </p:txBody>
      </p:sp>
    </p:spTree>
    <p:extLst>
      <p:ext uri="{BB962C8B-B14F-4D97-AF65-F5344CB8AC3E}">
        <p14:creationId xmlns:p14="http://schemas.microsoft.com/office/powerpoint/2010/main" val="381741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1BDCD56A-8A21-FF3F-4DE2-30F5ED5D2E11}"/>
              </a:ext>
            </a:extLst>
          </p:cNvPr>
          <p:cNvSpPr>
            <a:spLocks noGrp="1"/>
          </p:cNvSpPr>
          <p:nvPr>
            <p:ph type="title"/>
          </p:nvPr>
        </p:nvSpPr>
        <p:spPr/>
        <p:txBody>
          <a:bodyPr>
            <a:normAutofit/>
          </a:bodyPr>
          <a:lstStyle/>
          <a:p>
            <a:r>
              <a:rPr lang="en-US" sz="4000">
                <a:cs typeface="Poppins SemiBold"/>
              </a:rPr>
              <a:t>Business Problem :</a:t>
            </a:r>
          </a:p>
        </p:txBody>
      </p:sp>
      <p:sp>
        <p:nvSpPr>
          <p:cNvPr id="38" name="Text Placeholder 37">
            <a:extLst>
              <a:ext uri="{FF2B5EF4-FFF2-40B4-BE49-F238E27FC236}">
                <a16:creationId xmlns:a16="http://schemas.microsoft.com/office/drawing/2014/main" id="{46EAEAC5-26C9-DB26-73A5-9EE4CB33525B}"/>
              </a:ext>
            </a:extLst>
          </p:cNvPr>
          <p:cNvSpPr>
            <a:spLocks noGrp="1"/>
          </p:cNvSpPr>
          <p:nvPr>
            <p:ph type="body" sz="quarter" idx="13"/>
          </p:nvPr>
        </p:nvSpPr>
        <p:spPr>
          <a:xfrm>
            <a:off x="3939338" y="1270770"/>
            <a:ext cx="6508859" cy="4316516"/>
          </a:xfrm>
        </p:spPr>
        <p:txBody>
          <a:bodyPr/>
          <a:lstStyle/>
          <a:p>
            <a:r>
              <a:rPr lang="en-US" sz="2400">
                <a:ea typeface="+mj-lt"/>
                <a:cs typeface="+mj-lt"/>
              </a:rPr>
              <a:t>Retail businesses experience fluctuations in weekly sales due to multiple external factors.</a:t>
            </a:r>
            <a:endParaRPr lang="en-US" sz="2400" dirty="0">
              <a:ea typeface="+mj-lt"/>
              <a:cs typeface="+mj-lt"/>
            </a:endParaRPr>
          </a:p>
          <a:p>
            <a:endParaRPr lang="en-US" sz="2400" dirty="0">
              <a:cs typeface="Poppins SemiBold"/>
            </a:endParaRPr>
          </a:p>
          <a:p>
            <a:r>
              <a:rPr lang="en-US" sz="2400" dirty="0">
                <a:ea typeface="+mj-lt"/>
                <a:cs typeface="+mj-lt"/>
              </a:rPr>
              <a:t>This project analyzes Walmart sales data using Python to identify how temperature, holidays, CPI, unemployment, and fuel prices influence weekly sales patterns.</a:t>
            </a:r>
            <a:endParaRPr lang="en-US" sz="2400" dirty="0"/>
          </a:p>
        </p:txBody>
      </p:sp>
    </p:spTree>
    <p:extLst>
      <p:ext uri="{BB962C8B-B14F-4D97-AF65-F5344CB8AC3E}">
        <p14:creationId xmlns:p14="http://schemas.microsoft.com/office/powerpoint/2010/main" val="3001613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C8E6-8C13-F6E9-CEAD-1462C5DD0984}"/>
              </a:ext>
            </a:extLst>
          </p:cNvPr>
          <p:cNvSpPr>
            <a:spLocks noGrp="1"/>
          </p:cNvSpPr>
          <p:nvPr>
            <p:ph type="ctrTitle"/>
          </p:nvPr>
        </p:nvSpPr>
        <p:spPr>
          <a:xfrm>
            <a:off x="564340" y="1353775"/>
            <a:ext cx="7478991" cy="3635797"/>
          </a:xfrm>
        </p:spPr>
        <p:txBody>
          <a:bodyPr>
            <a:noAutofit/>
          </a:bodyPr>
          <a:lstStyle/>
          <a:p>
            <a:r>
              <a:rPr lang="en-US">
                <a:ea typeface="+mj-lt"/>
                <a:cs typeface="+mj-lt"/>
              </a:rPr>
              <a:t>Dataset Overview</a:t>
            </a:r>
            <a:endParaRPr lang="en-US"/>
          </a:p>
        </p:txBody>
      </p:sp>
    </p:spTree>
    <p:extLst>
      <p:ext uri="{BB962C8B-B14F-4D97-AF65-F5344CB8AC3E}">
        <p14:creationId xmlns:p14="http://schemas.microsoft.com/office/powerpoint/2010/main" val="1433460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A48DA2D7-3081-8E93-C65B-2E0B3AB1D48C}"/>
              </a:ext>
            </a:extLst>
          </p:cNvPr>
          <p:cNvGraphicFramePr>
            <a:graphicFrameLocks noGrp="1"/>
          </p:cNvGraphicFramePr>
          <p:nvPr>
            <p:extLst>
              <p:ext uri="{D42A27DB-BD31-4B8C-83A1-F6EECF244321}">
                <p14:modId xmlns:p14="http://schemas.microsoft.com/office/powerpoint/2010/main" val="1387944132"/>
              </p:ext>
            </p:extLst>
          </p:nvPr>
        </p:nvGraphicFramePr>
        <p:xfrm>
          <a:off x="805133" y="1164566"/>
          <a:ext cx="4944929" cy="4531219"/>
        </p:xfrm>
        <a:graphic>
          <a:graphicData uri="http://schemas.openxmlformats.org/drawingml/2006/table">
            <a:tbl>
              <a:tblPr firstRow="1" bandRow="1">
                <a:tableStyleId>{5C22544A-7EE6-4342-B048-85BDC9FD1C3A}</a:tableStyleId>
              </a:tblPr>
              <a:tblGrid>
                <a:gridCol w="2490916">
                  <a:extLst>
                    <a:ext uri="{9D8B030D-6E8A-4147-A177-3AD203B41FA5}">
                      <a16:colId xmlns:a16="http://schemas.microsoft.com/office/drawing/2014/main" val="3641255033"/>
                    </a:ext>
                  </a:extLst>
                </a:gridCol>
                <a:gridCol w="2454013">
                  <a:extLst>
                    <a:ext uri="{9D8B030D-6E8A-4147-A177-3AD203B41FA5}">
                      <a16:colId xmlns:a16="http://schemas.microsoft.com/office/drawing/2014/main" val="3255973599"/>
                    </a:ext>
                  </a:extLst>
                </a:gridCol>
              </a:tblGrid>
              <a:tr h="647317">
                <a:tc>
                  <a:txBody>
                    <a:bodyPr/>
                    <a:lstStyle/>
                    <a:p>
                      <a:pPr algn="ctr"/>
                      <a:r>
                        <a:rPr lang="en-US"/>
                        <a:t>Variables</a:t>
                      </a:r>
                    </a:p>
                  </a:txBody>
                  <a:tcPr anchor="ctr"/>
                </a:tc>
                <a:tc>
                  <a:txBody>
                    <a:bodyPr/>
                    <a:lstStyle/>
                    <a:p>
                      <a:pPr algn="ctr"/>
                      <a:r>
                        <a:rPr lang="en-US"/>
                        <a:t>Description</a:t>
                      </a:r>
                    </a:p>
                  </a:txBody>
                  <a:tcPr anchor="ctr"/>
                </a:tc>
                <a:extLst>
                  <a:ext uri="{0D108BD9-81ED-4DB2-BD59-A6C34878D82A}">
                    <a16:rowId xmlns:a16="http://schemas.microsoft.com/office/drawing/2014/main" val="1146091425"/>
                  </a:ext>
                </a:extLst>
              </a:tr>
              <a:tr h="647317">
                <a:tc>
                  <a:txBody>
                    <a:bodyPr/>
                    <a:lstStyle/>
                    <a:p>
                      <a:r>
                        <a:rPr lang="en-US"/>
                        <a:t>Weekly Sales</a:t>
                      </a:r>
                    </a:p>
                  </a:txBody>
                  <a:tcPr anchor="b"/>
                </a:tc>
                <a:tc>
                  <a:txBody>
                    <a:bodyPr/>
                    <a:lstStyle/>
                    <a:p>
                      <a:r>
                        <a:rPr lang="en-US"/>
                        <a:t>Total Weekly Revenue ($)</a:t>
                      </a:r>
                      <a:endParaRPr lang="en-US" dirty="0"/>
                    </a:p>
                  </a:txBody>
                  <a:tcPr anchor="ctr"/>
                </a:tc>
                <a:extLst>
                  <a:ext uri="{0D108BD9-81ED-4DB2-BD59-A6C34878D82A}">
                    <a16:rowId xmlns:a16="http://schemas.microsoft.com/office/drawing/2014/main" val="2569790419"/>
                  </a:ext>
                </a:extLst>
              </a:tr>
              <a:tr h="647317">
                <a:tc>
                  <a:txBody>
                    <a:bodyPr/>
                    <a:lstStyle/>
                    <a:p>
                      <a:r>
                        <a:rPr lang="en-US"/>
                        <a:t>CPI</a:t>
                      </a:r>
                    </a:p>
                  </a:txBody>
                  <a:tcPr anchor="b"/>
                </a:tc>
                <a:tc>
                  <a:txBody>
                    <a:bodyPr/>
                    <a:lstStyle/>
                    <a:p>
                      <a:r>
                        <a:rPr lang="en-US"/>
                        <a:t>Consumer Price Index </a:t>
                      </a:r>
                    </a:p>
                  </a:txBody>
                  <a:tcPr anchor="ctr"/>
                </a:tc>
                <a:extLst>
                  <a:ext uri="{0D108BD9-81ED-4DB2-BD59-A6C34878D82A}">
                    <a16:rowId xmlns:a16="http://schemas.microsoft.com/office/drawing/2014/main" val="3405879384"/>
                  </a:ext>
                </a:extLst>
              </a:tr>
              <a:tr h="647317">
                <a:tc>
                  <a:txBody>
                    <a:bodyPr/>
                    <a:lstStyle/>
                    <a:p>
                      <a:r>
                        <a:rPr lang="en-US"/>
                        <a:t>Temperature</a:t>
                      </a:r>
                    </a:p>
                  </a:txBody>
                  <a:tcPr anchor="b"/>
                </a:tc>
                <a:tc>
                  <a:txBody>
                    <a:bodyPr/>
                    <a:lstStyle/>
                    <a:p>
                      <a:r>
                        <a:rPr lang="en-US" dirty="0"/>
                        <a:t>Store Temperature </a:t>
                      </a:r>
                      <a:r>
                        <a:rPr lang="en-US"/>
                        <a:t>(</a:t>
                      </a:r>
                      <a:r>
                        <a:rPr lang="en-US" sz="1800" b="0" i="0" u="none" strike="noStrike" noProof="0">
                          <a:latin typeface="Poppins"/>
                          <a:cs typeface="Poppins"/>
                        </a:rPr>
                        <a:t>°F)</a:t>
                      </a:r>
                      <a:r>
                        <a:rPr lang="en-US" dirty="0"/>
                        <a:t> </a:t>
                      </a:r>
                    </a:p>
                  </a:txBody>
                  <a:tcPr anchor="ctr"/>
                </a:tc>
                <a:extLst>
                  <a:ext uri="{0D108BD9-81ED-4DB2-BD59-A6C34878D82A}">
                    <a16:rowId xmlns:a16="http://schemas.microsoft.com/office/drawing/2014/main" val="540011710"/>
                  </a:ext>
                </a:extLst>
              </a:tr>
              <a:tr h="647317">
                <a:tc>
                  <a:txBody>
                    <a:bodyPr/>
                    <a:lstStyle/>
                    <a:p>
                      <a:r>
                        <a:rPr lang="en-US" dirty="0"/>
                        <a:t>Fuel </a:t>
                      </a:r>
                      <a:r>
                        <a:rPr lang="en-US"/>
                        <a:t>Price</a:t>
                      </a:r>
                      <a:endParaRPr lang="en-US" dirty="0"/>
                    </a:p>
                  </a:txBody>
                  <a:tcPr anchor="b"/>
                </a:tc>
                <a:tc>
                  <a:txBody>
                    <a:bodyPr/>
                    <a:lstStyle/>
                    <a:p>
                      <a:r>
                        <a:rPr lang="en-US"/>
                        <a:t>Fuel cost trend ($)</a:t>
                      </a:r>
                    </a:p>
                  </a:txBody>
                  <a:tcPr anchor="ctr"/>
                </a:tc>
                <a:extLst>
                  <a:ext uri="{0D108BD9-81ED-4DB2-BD59-A6C34878D82A}">
                    <a16:rowId xmlns:a16="http://schemas.microsoft.com/office/drawing/2014/main" val="1551242202"/>
                  </a:ext>
                </a:extLst>
              </a:tr>
              <a:tr h="647317">
                <a:tc>
                  <a:txBody>
                    <a:bodyPr/>
                    <a:lstStyle/>
                    <a:p>
                      <a:pPr lvl="0">
                        <a:buNone/>
                      </a:pPr>
                      <a:r>
                        <a:rPr lang="en-US" dirty="0"/>
                        <a:t>Unemplo</a:t>
                      </a:r>
                      <a:r>
                        <a:rPr lang="en-US"/>
                        <a:t>yment</a:t>
                      </a:r>
                      <a:endParaRPr lang="en-US" dirty="0"/>
                    </a:p>
                  </a:txBody>
                  <a:tcPr anchor="b"/>
                </a:tc>
                <a:tc>
                  <a:txBody>
                    <a:bodyPr/>
                    <a:lstStyle/>
                    <a:p>
                      <a:pPr lvl="0">
                        <a:buNone/>
                      </a:pPr>
                      <a:r>
                        <a:rPr lang="en-US"/>
                        <a:t>Economic indicator (%)</a:t>
                      </a:r>
                      <a:endParaRPr lang="en-US" dirty="0"/>
                    </a:p>
                  </a:txBody>
                  <a:tcPr anchor="ctr"/>
                </a:tc>
                <a:extLst>
                  <a:ext uri="{0D108BD9-81ED-4DB2-BD59-A6C34878D82A}">
                    <a16:rowId xmlns:a16="http://schemas.microsoft.com/office/drawing/2014/main" val="1856558650"/>
                  </a:ext>
                </a:extLst>
              </a:tr>
              <a:tr h="647317">
                <a:tc>
                  <a:txBody>
                    <a:bodyPr/>
                    <a:lstStyle/>
                    <a:p>
                      <a:r>
                        <a:rPr lang="en-US"/>
                        <a:t>Holiday Flag</a:t>
                      </a:r>
                    </a:p>
                  </a:txBody>
                  <a:tcPr anchor="b"/>
                </a:tc>
                <a:tc>
                  <a:txBody>
                    <a:bodyPr/>
                    <a:lstStyle/>
                    <a:p>
                      <a:r>
                        <a:rPr lang="en-US"/>
                        <a:t>Holiday week or non-holiday</a:t>
                      </a:r>
                    </a:p>
                  </a:txBody>
                  <a:tcPr anchor="ctr"/>
                </a:tc>
                <a:extLst>
                  <a:ext uri="{0D108BD9-81ED-4DB2-BD59-A6C34878D82A}">
                    <a16:rowId xmlns:a16="http://schemas.microsoft.com/office/drawing/2014/main" val="2839703919"/>
                  </a:ext>
                </a:extLst>
              </a:tr>
            </a:tbl>
          </a:graphicData>
        </a:graphic>
      </p:graphicFrame>
      <p:sp>
        <p:nvSpPr>
          <p:cNvPr id="19" name="Text Placeholder 18">
            <a:extLst>
              <a:ext uri="{FF2B5EF4-FFF2-40B4-BE49-F238E27FC236}">
                <a16:creationId xmlns:a16="http://schemas.microsoft.com/office/drawing/2014/main" id="{48EC7AF7-AEB0-C294-AF3B-0781F76E101B}"/>
              </a:ext>
            </a:extLst>
          </p:cNvPr>
          <p:cNvSpPr>
            <a:spLocks noGrp="1"/>
          </p:cNvSpPr>
          <p:nvPr>
            <p:ph type="body" sz="quarter" idx="14"/>
          </p:nvPr>
        </p:nvSpPr>
        <p:spPr>
          <a:xfrm>
            <a:off x="6091657" y="1164075"/>
            <a:ext cx="5458274" cy="4535284"/>
          </a:xfrm>
        </p:spPr>
        <p:txBody>
          <a:bodyPr vert="horz" lIns="0" tIns="0" rIns="0" bIns="0" rtlCol="0" anchor="ctr">
            <a:noAutofit/>
          </a:bodyPr>
          <a:lstStyle/>
          <a:p>
            <a:r>
              <a:rPr lang="en-US" sz="2400">
                <a:ea typeface="+mn-lt"/>
                <a:cs typeface="+mn-lt"/>
              </a:rPr>
              <a:t>• Walmart retail sales dataset</a:t>
            </a:r>
            <a:endParaRPr lang="en-US" sz="2400">
              <a:cs typeface="Poppins"/>
            </a:endParaRPr>
          </a:p>
          <a:p>
            <a:endParaRPr lang="en-US" sz="2400" dirty="0">
              <a:ea typeface="+mn-lt"/>
              <a:cs typeface="+mn-lt"/>
            </a:endParaRPr>
          </a:p>
          <a:p>
            <a:r>
              <a:rPr lang="en-US" sz="2400">
                <a:ea typeface="+mn-lt"/>
                <a:cs typeface="+mn-lt"/>
              </a:rPr>
              <a:t>• 45 stores included</a:t>
            </a:r>
          </a:p>
          <a:p>
            <a:endParaRPr lang="en-US" sz="2400" dirty="0">
              <a:cs typeface="Poppins"/>
            </a:endParaRPr>
          </a:p>
          <a:p>
            <a:r>
              <a:rPr lang="en-US" sz="2400" dirty="0">
                <a:ea typeface="+mn-lt"/>
                <a:cs typeface="+mn-lt"/>
              </a:rPr>
              <a:t>• Data from Feb 2010 – </a:t>
            </a:r>
            <a:r>
              <a:rPr lang="en-US" sz="2400">
                <a:ea typeface="+mn-lt"/>
                <a:cs typeface="+mn-lt"/>
              </a:rPr>
              <a:t>Oct</a:t>
            </a:r>
            <a:r>
              <a:rPr lang="en-US" sz="2400" dirty="0">
                <a:ea typeface="+mn-lt"/>
                <a:cs typeface="+mn-lt"/>
              </a:rPr>
              <a:t> 2012</a:t>
            </a:r>
            <a:endParaRPr lang="en-US" sz="2400" dirty="0">
              <a:cs typeface="Poppins"/>
            </a:endParaRPr>
          </a:p>
          <a:p>
            <a:endParaRPr lang="en-US" sz="2400" dirty="0">
              <a:ea typeface="+mn-lt"/>
              <a:cs typeface="+mn-lt"/>
            </a:endParaRPr>
          </a:p>
          <a:p>
            <a:r>
              <a:rPr lang="en-US" sz="2400">
                <a:ea typeface="+mn-lt"/>
                <a:cs typeface="+mn-lt"/>
              </a:rPr>
              <a:t>• Weekly-level sales records</a:t>
            </a:r>
            <a:endParaRPr lang="en-US" sz="2400">
              <a:cs typeface="Poppins"/>
            </a:endParaRPr>
          </a:p>
        </p:txBody>
      </p:sp>
    </p:spTree>
    <p:extLst>
      <p:ext uri="{BB962C8B-B14F-4D97-AF65-F5344CB8AC3E}">
        <p14:creationId xmlns:p14="http://schemas.microsoft.com/office/powerpoint/2010/main" val="244138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2612-D981-C006-C296-E90DECF099C0}"/>
              </a:ext>
            </a:extLst>
          </p:cNvPr>
          <p:cNvSpPr>
            <a:spLocks noGrp="1"/>
          </p:cNvSpPr>
          <p:nvPr>
            <p:ph type="title"/>
          </p:nvPr>
        </p:nvSpPr>
        <p:spPr/>
        <p:txBody>
          <a:bodyPr/>
          <a:lstStyle/>
          <a:p>
            <a:pPr algn="ctr"/>
            <a:r>
              <a:rPr lang="en-US">
                <a:ea typeface="+mj-lt"/>
                <a:cs typeface="+mj-lt"/>
              </a:rPr>
              <a:t>Challenges Faced</a:t>
            </a:r>
            <a:endParaRPr lang="en-US">
              <a:cs typeface="Poppins SemiBold"/>
            </a:endParaRPr>
          </a:p>
        </p:txBody>
      </p:sp>
      <p:sp>
        <p:nvSpPr>
          <p:cNvPr id="3" name="Content Placeholder 2">
            <a:extLst>
              <a:ext uri="{FF2B5EF4-FFF2-40B4-BE49-F238E27FC236}">
                <a16:creationId xmlns:a16="http://schemas.microsoft.com/office/drawing/2014/main" id="{AF609BB8-B809-1F20-CC4F-E1E1B1600EC7}"/>
              </a:ext>
            </a:extLst>
          </p:cNvPr>
          <p:cNvSpPr>
            <a:spLocks noGrp="1"/>
          </p:cNvSpPr>
          <p:nvPr>
            <p:ph idx="1"/>
          </p:nvPr>
        </p:nvSpPr>
        <p:spPr/>
        <p:txBody>
          <a:bodyPr vert="horz" lIns="0" tIns="0" rIns="0" bIns="0" rtlCol="0" anchor="ctr">
            <a:normAutofit/>
          </a:bodyPr>
          <a:lstStyle/>
          <a:p>
            <a:r>
              <a:rPr lang="en-US" sz="2400">
                <a:ea typeface="+mn-lt"/>
                <a:cs typeface="+mn-lt"/>
              </a:rPr>
              <a:t>• Missing months in yearly data</a:t>
            </a:r>
            <a:endParaRPr lang="en-US" sz="2400">
              <a:cs typeface="Poppins"/>
            </a:endParaRPr>
          </a:p>
          <a:p>
            <a:r>
              <a:rPr lang="en-US" sz="2400">
                <a:ea typeface="+mn-lt"/>
                <a:cs typeface="+mn-lt"/>
              </a:rPr>
              <a:t>• Difficult to compare years directly</a:t>
            </a:r>
            <a:endParaRPr lang="en-US" sz="2400">
              <a:cs typeface="Poppins"/>
            </a:endParaRPr>
          </a:p>
          <a:p>
            <a:r>
              <a:rPr lang="en-US" sz="2400">
                <a:ea typeface="+mn-lt"/>
                <a:cs typeface="+mn-lt"/>
              </a:rPr>
              <a:t>• No store location information available</a:t>
            </a:r>
            <a:endParaRPr lang="en-US" sz="2400">
              <a:cs typeface="Poppins"/>
            </a:endParaRPr>
          </a:p>
          <a:p>
            <a:r>
              <a:rPr lang="en-US" sz="2400">
                <a:ea typeface="+mn-lt"/>
                <a:cs typeface="+mn-lt"/>
              </a:rPr>
              <a:t>• Multiple factors affected weekly sales simultaneously</a:t>
            </a:r>
            <a:endParaRPr lang="en-US" sz="2400">
              <a:cs typeface="Poppins"/>
            </a:endParaRPr>
          </a:p>
          <a:p>
            <a:r>
              <a:rPr lang="en-US" sz="2400" dirty="0">
                <a:ea typeface="+mn-lt"/>
                <a:cs typeface="+mn-lt"/>
              </a:rPr>
              <a:t>• Correlation did not always indicate clear causation</a:t>
            </a:r>
            <a:endParaRPr lang="en-US" sz="2400" dirty="0">
              <a:cs typeface="Poppins"/>
            </a:endParaRPr>
          </a:p>
        </p:txBody>
      </p:sp>
    </p:spTree>
    <p:extLst>
      <p:ext uri="{BB962C8B-B14F-4D97-AF65-F5344CB8AC3E}">
        <p14:creationId xmlns:p14="http://schemas.microsoft.com/office/powerpoint/2010/main" val="1208939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12801-9283-9FF1-E6F1-8ACFE822EEDD}"/>
              </a:ext>
            </a:extLst>
          </p:cNvPr>
          <p:cNvSpPr>
            <a:spLocks noGrp="1"/>
          </p:cNvSpPr>
          <p:nvPr>
            <p:ph type="ctrTitle"/>
          </p:nvPr>
        </p:nvSpPr>
        <p:spPr>
          <a:xfrm>
            <a:off x="3046563" y="1143000"/>
            <a:ext cx="8364747" cy="4572000"/>
          </a:xfrm>
        </p:spPr>
        <p:txBody>
          <a:bodyPr/>
          <a:lstStyle/>
          <a:p>
            <a:r>
              <a:rPr lang="en-US" altLang="zh-CN"/>
              <a:t>Holiday Impact Analysis</a:t>
            </a:r>
            <a:endParaRPr lang="en-US" dirty="0"/>
          </a:p>
        </p:txBody>
      </p:sp>
    </p:spTree>
    <p:extLst>
      <p:ext uri="{BB962C8B-B14F-4D97-AF65-F5344CB8AC3E}">
        <p14:creationId xmlns:p14="http://schemas.microsoft.com/office/powerpoint/2010/main" val="146810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Placeholder 44">
            <a:extLst>
              <a:ext uri="{FF2B5EF4-FFF2-40B4-BE49-F238E27FC236}">
                <a16:creationId xmlns:a16="http://schemas.microsoft.com/office/drawing/2014/main" id="{F3029DBF-C91B-D4FC-B9CE-A73DCA8DF3D0}"/>
              </a:ext>
            </a:extLst>
          </p:cNvPr>
          <p:cNvPicPr>
            <a:picLocks noGrp="1" noChangeAspect="1"/>
          </p:cNvPicPr>
          <p:nvPr>
            <p:ph type="pic" idx="1"/>
          </p:nvPr>
        </p:nvPicPr>
        <p:blipFill>
          <a:blip r:embed="rId2"/>
          <a:srcRect l="-1349" r="3468" b="276"/>
          <a:stretch>
            <a:fillRect/>
          </a:stretch>
        </p:blipFill>
        <p:spPr>
          <a:xfrm>
            <a:off x="4560111" y="716900"/>
            <a:ext cx="7297944" cy="5179816"/>
          </a:xfrm>
          <a:prstGeom prst="rect">
            <a:avLst/>
          </a:prstGeom>
        </p:spPr>
      </p:pic>
      <p:sp>
        <p:nvSpPr>
          <p:cNvPr id="36" name="Text Placeholder 35">
            <a:extLst>
              <a:ext uri="{FF2B5EF4-FFF2-40B4-BE49-F238E27FC236}">
                <a16:creationId xmlns:a16="http://schemas.microsoft.com/office/drawing/2014/main" id="{2D17343C-627C-6D59-40A8-0DE81FF1D62C}"/>
              </a:ext>
            </a:extLst>
          </p:cNvPr>
          <p:cNvSpPr>
            <a:spLocks noGrp="1"/>
          </p:cNvSpPr>
          <p:nvPr>
            <p:ph type="body" sz="half" idx="2"/>
          </p:nvPr>
        </p:nvSpPr>
        <p:spPr>
          <a:xfrm>
            <a:off x="633364" y="830261"/>
            <a:ext cx="3801246" cy="5181441"/>
          </a:xfrm>
        </p:spPr>
        <p:txBody>
          <a:bodyPr vert="horz" lIns="0" tIns="0" rIns="0" bIns="0" rtlCol="0" anchor="t">
            <a:noAutofit/>
          </a:bodyPr>
          <a:lstStyle/>
          <a:p>
            <a:pPr>
              <a:lnSpc>
                <a:spcPct val="100000"/>
              </a:lnSpc>
            </a:pPr>
            <a:r>
              <a:rPr lang="en-US" sz="2400" u="sng">
                <a:ea typeface="+mn-lt"/>
                <a:cs typeface="+mn-lt"/>
              </a:rPr>
              <a:t>Key Findings:</a:t>
            </a:r>
            <a:endParaRPr lang="en-US" sz="1800" u="sng" dirty="0">
              <a:cs typeface="Poppins"/>
            </a:endParaRPr>
          </a:p>
          <a:p>
            <a:pPr>
              <a:lnSpc>
                <a:spcPct val="100000"/>
              </a:lnSpc>
            </a:pPr>
            <a:r>
              <a:rPr lang="en-US" sz="2000">
                <a:ea typeface="+mn-lt"/>
                <a:cs typeface="+mn-lt"/>
              </a:rPr>
              <a:t>• Holiday weeks generated higher weekly sales.</a:t>
            </a:r>
            <a:endParaRPr lang="en-US" sz="2000" dirty="0">
              <a:cs typeface="Poppins"/>
            </a:endParaRPr>
          </a:p>
          <a:p>
            <a:pPr>
              <a:lnSpc>
                <a:spcPct val="100000"/>
              </a:lnSpc>
            </a:pPr>
            <a:r>
              <a:rPr lang="en-US" sz="2000">
                <a:ea typeface="+mn-lt"/>
                <a:cs typeface="+mn-lt"/>
              </a:rPr>
              <a:t>• Average sales increased during holiday periods.</a:t>
            </a:r>
            <a:endParaRPr lang="en-US" sz="2000" dirty="0">
              <a:cs typeface="Poppins"/>
            </a:endParaRPr>
          </a:p>
          <a:p>
            <a:pPr>
              <a:lnSpc>
                <a:spcPct val="100000"/>
              </a:lnSpc>
            </a:pPr>
            <a:r>
              <a:rPr lang="en-US" sz="2000">
                <a:ea typeface="+mn-lt"/>
                <a:cs typeface="+mn-lt"/>
              </a:rPr>
              <a:t>• Customer spending activity was stronger during holidays.</a:t>
            </a:r>
            <a:endParaRPr lang="en-US" sz="2000" dirty="0">
              <a:cs typeface="Poppins"/>
            </a:endParaRPr>
          </a:p>
          <a:p>
            <a:pPr>
              <a:lnSpc>
                <a:spcPct val="100000"/>
              </a:lnSpc>
            </a:pPr>
            <a:r>
              <a:rPr lang="en-US" sz="2000">
                <a:ea typeface="+mn-lt"/>
                <a:cs typeface="+mn-lt"/>
              </a:rPr>
              <a:t>• Holiday impact remained visible across multiple stores.</a:t>
            </a:r>
          </a:p>
          <a:p>
            <a:endParaRPr lang="en-US" sz="2000" dirty="0">
              <a:cs typeface="Poppins"/>
            </a:endParaRPr>
          </a:p>
          <a:p>
            <a:r>
              <a:rPr lang="en-US" sz="2400" u="sng">
                <a:ea typeface="+mn-lt"/>
                <a:cs typeface="+mn-lt"/>
              </a:rPr>
              <a:t>Conclusion:</a:t>
            </a:r>
            <a:endParaRPr lang="en-US" sz="2000" dirty="0">
              <a:cs typeface="Poppins"/>
            </a:endParaRPr>
          </a:p>
          <a:p>
            <a:r>
              <a:rPr lang="en-US" sz="2000">
                <a:ea typeface="+mn-lt"/>
                <a:cs typeface="+mn-lt"/>
              </a:rPr>
              <a:t>Holiday periods positively influenced Walmart weekly sales performance.</a:t>
            </a:r>
            <a:endParaRPr lang="en-US" sz="2000">
              <a:cs typeface="Poppins"/>
            </a:endParaRPr>
          </a:p>
        </p:txBody>
      </p:sp>
    </p:spTree>
    <p:extLst>
      <p:ext uri="{BB962C8B-B14F-4D97-AF65-F5344CB8AC3E}">
        <p14:creationId xmlns:p14="http://schemas.microsoft.com/office/powerpoint/2010/main" val="2032235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90F380C-CA36-5841-806C-DFB0B34AABA9}"/>
              </a:ext>
            </a:extLst>
          </p:cNvPr>
          <p:cNvSpPr>
            <a:spLocks noGrp="1"/>
          </p:cNvSpPr>
          <p:nvPr>
            <p:ph type="ctrTitle"/>
          </p:nvPr>
        </p:nvSpPr>
        <p:spPr/>
        <p:txBody>
          <a:bodyPr/>
          <a:lstStyle/>
          <a:p>
            <a:r>
              <a:rPr lang="en-US">
                <a:ea typeface="+mj-lt"/>
                <a:cs typeface="+mj-lt"/>
              </a:rPr>
              <a:t>Temperature Impact Analysis</a:t>
            </a:r>
          </a:p>
        </p:txBody>
      </p:sp>
    </p:spTree>
    <p:extLst>
      <p:ext uri="{BB962C8B-B14F-4D97-AF65-F5344CB8AC3E}">
        <p14:creationId xmlns:p14="http://schemas.microsoft.com/office/powerpoint/2010/main" val="765269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FDEBCD-832D-DEBF-B21B-B4B36CC22766}"/>
              </a:ext>
            </a:extLst>
          </p:cNvPr>
          <p:cNvPicPr>
            <a:picLocks noGrp="1" noChangeAspect="1"/>
          </p:cNvPicPr>
          <p:nvPr>
            <p:ph idx="1"/>
          </p:nvPr>
        </p:nvPicPr>
        <p:blipFill>
          <a:blip r:embed="rId2"/>
          <a:stretch>
            <a:fillRect/>
          </a:stretch>
        </p:blipFill>
        <p:spPr>
          <a:xfrm>
            <a:off x="1121436" y="539370"/>
            <a:ext cx="9934753" cy="5779259"/>
          </a:xfrm>
          <a:prstGeom prst="rect">
            <a:avLst/>
          </a:prstGeom>
        </p:spPr>
      </p:pic>
      <p:sp>
        <p:nvSpPr>
          <p:cNvPr id="2" name="Title 1">
            <a:extLst>
              <a:ext uri="{FF2B5EF4-FFF2-40B4-BE49-F238E27FC236}">
                <a16:creationId xmlns:a16="http://schemas.microsoft.com/office/drawing/2014/main" id="{E407868E-FC1E-CD35-5A63-283FFE242ABE}"/>
              </a:ext>
            </a:extLst>
          </p:cNvPr>
          <p:cNvSpPr>
            <a:spLocks noGrp="1"/>
          </p:cNvSpPr>
          <p:nvPr>
            <p:ph type="title"/>
          </p:nvPr>
        </p:nvSpPr>
        <p:spPr/>
        <p:txBody>
          <a:bodyPr/>
          <a:lstStyle/>
          <a:p>
            <a:r>
              <a:rPr lang="en-US" altLang="zh-CN"/>
              <a:t>Competitive Advantages</a:t>
            </a:r>
            <a:endParaRPr lang="en-US"/>
          </a:p>
        </p:txBody>
      </p:sp>
    </p:spTree>
    <p:extLst>
      <p:ext uri="{BB962C8B-B14F-4D97-AF65-F5344CB8AC3E}">
        <p14:creationId xmlns:p14="http://schemas.microsoft.com/office/powerpoint/2010/main" val="3507885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67649C30-8936-A2C9-490F-775EA92AD07A}"/>
              </a:ext>
            </a:extLst>
          </p:cNvPr>
          <p:cNvSpPr>
            <a:spLocks noGrp="1"/>
          </p:cNvSpPr>
          <p:nvPr>
            <p:ph idx="1"/>
          </p:nvPr>
        </p:nvSpPr>
        <p:spPr>
          <a:xfrm>
            <a:off x="703377" y="700560"/>
            <a:ext cx="11009178" cy="5511620"/>
          </a:xfrm>
        </p:spPr>
        <p:txBody>
          <a:bodyPr vert="horz" lIns="0" tIns="0" rIns="0" bIns="0" rtlCol="0" anchor="t">
            <a:normAutofit/>
          </a:bodyPr>
          <a:lstStyle/>
          <a:p>
            <a:r>
              <a:rPr lang="en-US" sz="2400" u="sng">
                <a:ea typeface="+mn-lt"/>
                <a:cs typeface="+mn-lt"/>
              </a:rPr>
              <a:t>Key Findings:</a:t>
            </a:r>
            <a:endParaRPr lang="en-US" u="sng">
              <a:ea typeface="+mn-lt"/>
              <a:cs typeface="+mn-lt"/>
            </a:endParaRPr>
          </a:p>
          <a:p>
            <a:r>
              <a:rPr lang="en-US" sz="1800" dirty="0">
                <a:ea typeface="+mn-lt"/>
                <a:cs typeface="+mn-lt"/>
              </a:rPr>
              <a:t>• Sales remained strongest during cold and ideal temperature ranges. </a:t>
            </a:r>
          </a:p>
          <a:p>
            <a:r>
              <a:rPr lang="en-US" sz="1800" dirty="0">
                <a:ea typeface="+mn-lt"/>
                <a:cs typeface="+mn-lt"/>
              </a:rPr>
              <a:t>• Temperatures above 77°F showed noticeable sales decline. </a:t>
            </a:r>
          </a:p>
          <a:p>
            <a:r>
              <a:rPr lang="en-US" sz="1800" dirty="0">
                <a:ea typeface="+mn-lt"/>
                <a:cs typeface="+mn-lt"/>
              </a:rPr>
              <a:t>• Extremely hot conditions (90°F+) generated the lowest weekly sales. </a:t>
            </a:r>
          </a:p>
          <a:p>
            <a:pPr>
              <a:lnSpc>
                <a:spcPct val="100000"/>
              </a:lnSpc>
            </a:pPr>
            <a:r>
              <a:rPr lang="en-US" sz="1800" dirty="0">
                <a:ea typeface="+mn-lt"/>
                <a:cs typeface="+mn-lt"/>
              </a:rPr>
              <a:t>• Bottom-performing stores experienced high-temperature conditions more frequently.</a:t>
            </a:r>
          </a:p>
          <a:p>
            <a:pPr>
              <a:lnSpc>
                <a:spcPct val="100000"/>
              </a:lnSpc>
            </a:pPr>
            <a:r>
              <a:rPr lang="en-US" sz="1800">
                <a:ea typeface="+mn-lt"/>
                <a:cs typeface="+mn-lt"/>
              </a:rPr>
              <a:t>• Temperature patterns appeared more influential than holiday frequency alone.</a:t>
            </a:r>
            <a:endParaRPr lang="en-US" sz="1800" dirty="0">
              <a:ea typeface="+mn-lt"/>
              <a:cs typeface="+mn-lt"/>
            </a:endParaRPr>
          </a:p>
          <a:p>
            <a:pPr>
              <a:lnSpc>
                <a:spcPct val="100000"/>
              </a:lnSpc>
            </a:pPr>
            <a:endParaRPr lang="en-US" sz="1800" dirty="0">
              <a:ea typeface="+mn-lt"/>
              <a:cs typeface="+mn-lt"/>
            </a:endParaRPr>
          </a:p>
          <a:p>
            <a:pPr>
              <a:lnSpc>
                <a:spcPct val="100000"/>
              </a:lnSpc>
            </a:pPr>
            <a:r>
              <a:rPr lang="en-US" sz="2400" u="sng">
                <a:ea typeface="+mn-lt"/>
                <a:cs typeface="+mn-lt"/>
              </a:rPr>
              <a:t>Business Insight:</a:t>
            </a:r>
          </a:p>
          <a:p>
            <a:pPr>
              <a:lnSpc>
                <a:spcPct val="100000"/>
              </a:lnSpc>
            </a:pPr>
            <a:r>
              <a:rPr lang="en-US" dirty="0">
                <a:ea typeface="+mn-lt"/>
                <a:cs typeface="+mn-lt"/>
              </a:rPr>
              <a:t> </a:t>
            </a:r>
            <a:r>
              <a:rPr lang="en-US" sz="1800" dirty="0">
                <a:ea typeface="+mn-lt"/>
                <a:cs typeface="+mn-lt"/>
              </a:rPr>
              <a:t>“Customer shopping activity decreases during extreme heat conditions.”</a:t>
            </a:r>
            <a:r>
              <a:rPr lang="en-US" dirty="0">
                <a:ea typeface="+mn-lt"/>
                <a:cs typeface="+mn-lt"/>
              </a:rPr>
              <a:t> </a:t>
            </a:r>
            <a:endParaRPr lang="en-US">
              <a:ea typeface="+mn-lt"/>
              <a:cs typeface="+mn-lt"/>
            </a:endParaRPr>
          </a:p>
          <a:p>
            <a:pPr>
              <a:lnSpc>
                <a:spcPct val="100000"/>
              </a:lnSpc>
            </a:pPr>
            <a:endParaRPr lang="en-US" u="sng" dirty="0">
              <a:ea typeface="+mn-lt"/>
              <a:cs typeface="+mn-lt"/>
            </a:endParaRPr>
          </a:p>
          <a:p>
            <a:pPr>
              <a:lnSpc>
                <a:spcPct val="100000"/>
              </a:lnSpc>
            </a:pPr>
            <a:r>
              <a:rPr lang="en-US" sz="2400" u="sng">
                <a:ea typeface="+mn-lt"/>
                <a:cs typeface="+mn-lt"/>
              </a:rPr>
              <a:t>Conclusion:</a:t>
            </a:r>
          </a:p>
          <a:p>
            <a:pPr>
              <a:lnSpc>
                <a:spcPct val="100000"/>
              </a:lnSpc>
            </a:pPr>
            <a:r>
              <a:rPr lang="en-US" sz="1800">
                <a:ea typeface="+mn-lt"/>
                <a:cs typeface="+mn-lt"/>
              </a:rPr>
              <a:t>Temperature was identified as one of </a:t>
            </a:r>
            <a:r>
              <a:rPr lang="en-US" sz="1800" dirty="0">
                <a:ea typeface="+mn-lt"/>
                <a:cs typeface="+mn-lt"/>
              </a:rPr>
              <a:t>the major factors influencing Walmart weekly sales fluctuations.</a:t>
            </a:r>
            <a:endParaRPr lang="en-US" sz="1800">
              <a:cs typeface="Poppins"/>
            </a:endParaRPr>
          </a:p>
        </p:txBody>
      </p:sp>
    </p:spTree>
    <p:extLst>
      <p:ext uri="{BB962C8B-B14F-4D97-AF65-F5344CB8AC3E}">
        <p14:creationId xmlns:p14="http://schemas.microsoft.com/office/powerpoint/2010/main" val="111911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9E95-6C19-A741-F7F1-5EB315B68A57}"/>
              </a:ext>
            </a:extLst>
          </p:cNvPr>
          <p:cNvSpPr>
            <a:spLocks noGrp="1"/>
          </p:cNvSpPr>
          <p:nvPr>
            <p:ph type="ctrTitle"/>
          </p:nvPr>
        </p:nvSpPr>
        <p:spPr>
          <a:xfrm>
            <a:off x="3305354" y="1401793"/>
            <a:ext cx="8177841" cy="4845169"/>
          </a:xfrm>
        </p:spPr>
        <p:txBody>
          <a:bodyPr/>
          <a:lstStyle/>
          <a:p>
            <a:r>
              <a:rPr lang="en-US" dirty="0">
                <a:cs typeface="Poppins SemiBold"/>
              </a:rPr>
              <a:t>Temperature + Holiday </a:t>
            </a:r>
            <a:r>
              <a:rPr lang="en-US">
                <a:cs typeface="Poppins SemiBold"/>
              </a:rPr>
              <a:t>Impac</a:t>
            </a:r>
            <a:r>
              <a:rPr lang="en-US" dirty="0">
                <a:cs typeface="Poppins SemiBold"/>
              </a:rPr>
              <a:t>t analysis</a:t>
            </a:r>
            <a:endParaRPr lang="en-US" dirty="0"/>
          </a:p>
        </p:txBody>
      </p:sp>
    </p:spTree>
    <p:extLst>
      <p:ext uri="{BB962C8B-B14F-4D97-AF65-F5344CB8AC3E}">
        <p14:creationId xmlns:p14="http://schemas.microsoft.com/office/powerpoint/2010/main" val="183272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Content Placeholder 28" descr="A graph of different colored bars&#10;&#10;AI-generated content may be incorrect.">
            <a:extLst>
              <a:ext uri="{FF2B5EF4-FFF2-40B4-BE49-F238E27FC236}">
                <a16:creationId xmlns:a16="http://schemas.microsoft.com/office/drawing/2014/main" id="{14737D1A-EE7B-E3B1-A72A-6C7EBED16133}"/>
              </a:ext>
            </a:extLst>
          </p:cNvPr>
          <p:cNvPicPr>
            <a:picLocks noGrp="1" noChangeAspect="1"/>
          </p:cNvPicPr>
          <p:nvPr>
            <p:ph idx="1"/>
          </p:nvPr>
        </p:nvPicPr>
        <p:blipFill>
          <a:blip r:embed="rId2"/>
          <a:srcRect l="-1778" t="491" r="-3631" b="-737"/>
          <a:stretch>
            <a:fillRect/>
          </a:stretch>
        </p:blipFill>
        <p:spPr>
          <a:xfrm>
            <a:off x="402568" y="488895"/>
            <a:ext cx="11653419" cy="5880253"/>
          </a:xfrm>
          <a:prstGeom prst="rect">
            <a:avLst/>
          </a:prstGeom>
        </p:spPr>
      </p:pic>
    </p:spTree>
    <p:extLst>
      <p:ext uri="{BB962C8B-B14F-4D97-AF65-F5344CB8AC3E}">
        <p14:creationId xmlns:p14="http://schemas.microsoft.com/office/powerpoint/2010/main" val="3456668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8D742C-F4E1-31B3-291B-3F9473D45662}"/>
              </a:ext>
            </a:extLst>
          </p:cNvPr>
          <p:cNvSpPr>
            <a:spLocks noGrp="1"/>
          </p:cNvSpPr>
          <p:nvPr>
            <p:ph idx="1"/>
          </p:nvPr>
        </p:nvSpPr>
        <p:spPr>
          <a:xfrm>
            <a:off x="645867" y="614608"/>
            <a:ext cx="11239214" cy="4524073"/>
          </a:xfrm>
        </p:spPr>
        <p:txBody>
          <a:bodyPr vert="horz" lIns="0" tIns="0" rIns="0" bIns="0" rtlCol="0" anchor="t">
            <a:normAutofit fontScale="25000" lnSpcReduction="20000"/>
          </a:bodyPr>
          <a:lstStyle/>
          <a:p>
            <a:r>
              <a:rPr lang="en-US" sz="7200" u="sng">
                <a:ea typeface="+mn-lt"/>
                <a:cs typeface="+mn-lt"/>
              </a:rPr>
              <a:t>Key Findings</a:t>
            </a:r>
            <a:endParaRPr lang="en-US" sz="7200" u="sng">
              <a:cs typeface="Poppins"/>
            </a:endParaRPr>
          </a:p>
          <a:p>
            <a:r>
              <a:rPr lang="en-US" sz="7200">
                <a:ea typeface="+mn-lt"/>
                <a:cs typeface="+mn-lt"/>
              </a:rPr>
              <a:t>• Holiday sales remained highest during cold and mild/ideal temperature ranges.</a:t>
            </a:r>
            <a:endParaRPr lang="en-US" sz="7200" dirty="0">
              <a:cs typeface="Poppins"/>
            </a:endParaRPr>
          </a:p>
          <a:p>
            <a:r>
              <a:rPr lang="en-US" sz="7200">
                <a:ea typeface="+mn-lt"/>
                <a:cs typeface="+mn-lt"/>
              </a:rPr>
              <a:t>• Even during holiday weeks, extremely hot temperatures (90°F+) caused major sales decline.</a:t>
            </a:r>
            <a:endParaRPr lang="en-US" sz="7200" dirty="0">
              <a:cs typeface="Poppins"/>
            </a:endParaRPr>
          </a:p>
          <a:p>
            <a:r>
              <a:rPr lang="en-US" sz="7200" dirty="0">
                <a:ea typeface="+mn-lt"/>
                <a:cs typeface="+mn-lt"/>
              </a:rPr>
              <a:t>• Cold holiday periods generated stronger customer shopping activity compared to warm </a:t>
            </a:r>
            <a:r>
              <a:rPr lang="en-US" sz="7200">
                <a:ea typeface="+mn-lt"/>
                <a:cs typeface="+mn-lt"/>
              </a:rPr>
              <a:t>conditions.</a:t>
            </a:r>
            <a:endParaRPr lang="en-US" sz="7200" dirty="0">
              <a:ea typeface="+mn-lt"/>
              <a:cs typeface="+mn-lt"/>
            </a:endParaRPr>
          </a:p>
          <a:p>
            <a:r>
              <a:rPr lang="en-US" sz="7200">
                <a:ea typeface="+mn-lt"/>
                <a:cs typeface="+mn-lt"/>
              </a:rPr>
              <a:t>•Temperature</a:t>
            </a:r>
            <a:r>
              <a:rPr lang="en-US" sz="7200" dirty="0">
                <a:ea typeface="+mn-lt"/>
                <a:cs typeface="+mn-lt"/>
              </a:rPr>
              <a:t> influenced sales performance alongside holiday events.</a:t>
            </a:r>
            <a:endParaRPr lang="en-US" sz="7200">
              <a:cs typeface="Poppins"/>
            </a:endParaRPr>
          </a:p>
          <a:p>
            <a:r>
              <a:rPr lang="en-US" sz="7200">
                <a:ea typeface="+mn-lt"/>
                <a:cs typeface="+mn-lt"/>
              </a:rPr>
              <a:t>• Stores experiencing frequent high-temperature weeks showed comparatively weaker sales performance.</a:t>
            </a:r>
            <a:endParaRPr lang="en-US" sz="7200" dirty="0">
              <a:cs typeface="Poppins"/>
            </a:endParaRPr>
          </a:p>
          <a:p>
            <a:r>
              <a:rPr lang="en-US" sz="7200" u="sng">
                <a:ea typeface="+mn-lt"/>
                <a:cs typeface="+mn-lt"/>
              </a:rPr>
              <a:t>Business Insight</a:t>
            </a:r>
            <a:endParaRPr lang="en-US" sz="7200" u="sng">
              <a:cs typeface="Poppins"/>
            </a:endParaRPr>
          </a:p>
          <a:p>
            <a:r>
              <a:rPr lang="en-US" sz="7200">
                <a:ea typeface="+mn-lt"/>
                <a:cs typeface="+mn-lt"/>
              </a:rPr>
              <a:t>“Holiday demand alone does not guarantee high sales. Weather conditions significantly affect customer shopping behavior and store performance.”</a:t>
            </a:r>
            <a:endParaRPr lang="en-US" sz="7200" dirty="0">
              <a:cs typeface="Poppins"/>
            </a:endParaRPr>
          </a:p>
          <a:p>
            <a:r>
              <a:rPr lang="en-US" sz="7200" u="sng" dirty="0">
                <a:ea typeface="+mn-lt"/>
                <a:cs typeface="+mn-lt"/>
              </a:rPr>
              <a:t>Conclusion</a:t>
            </a:r>
            <a:endParaRPr lang="en-US" sz="7200" u="sng" dirty="0">
              <a:cs typeface="Poppins"/>
            </a:endParaRPr>
          </a:p>
          <a:p>
            <a:r>
              <a:rPr lang="en-US" sz="7200" dirty="0">
                <a:ea typeface="+mn-lt"/>
                <a:cs typeface="+mn-lt"/>
              </a:rPr>
              <a:t>The combined analysis of holiday periods and temperature ranges showed that Walmart weekly sales perform best during holidays with favorable weather conditions, while extreme heat reduces customer purchasing activity even during festive periods.</a:t>
            </a: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72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endParaRPr lang="en-US" sz="1700" dirty="0">
              <a:cs typeface="Poppins"/>
            </a:endParaRPr>
          </a:p>
          <a:p>
            <a:r>
              <a:rPr lang="en-US" sz="1700" dirty="0">
                <a:cs typeface="Poppins"/>
                <a:hlinkClick r:id="rId2" invalidUrl="file:///\\\\\\\\\\\\\\"/>
              </a:rPr>
              <a:t>\\\\\\\\\\\\\\</a:t>
            </a:r>
            <a:r>
              <a:rPr lang="en-US" sz="1700" dirty="0">
                <a:cs typeface="Poppins"/>
              </a:rPr>
              <a:t>      </a:t>
            </a:r>
          </a:p>
        </p:txBody>
      </p:sp>
    </p:spTree>
    <p:extLst>
      <p:ext uri="{BB962C8B-B14F-4D97-AF65-F5344CB8AC3E}">
        <p14:creationId xmlns:p14="http://schemas.microsoft.com/office/powerpoint/2010/main" val="378381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BBAB-E847-4577-D2FA-F799F752E948}"/>
              </a:ext>
            </a:extLst>
          </p:cNvPr>
          <p:cNvSpPr>
            <a:spLocks noGrp="1"/>
          </p:cNvSpPr>
          <p:nvPr>
            <p:ph type="title"/>
          </p:nvPr>
        </p:nvSpPr>
        <p:spPr/>
        <p:txBody>
          <a:bodyPr/>
          <a:lstStyle/>
          <a:p>
            <a:pPr algn="ctr"/>
            <a:r>
              <a:rPr lang="en-US">
                <a:cs typeface="Poppins SemiBold"/>
              </a:rPr>
              <a:t>No. Of Holidays as per Temperature</a:t>
            </a:r>
          </a:p>
        </p:txBody>
      </p:sp>
      <p:graphicFrame>
        <p:nvGraphicFramePr>
          <p:cNvPr id="4" name="Content Placeholder 3">
            <a:extLst>
              <a:ext uri="{FF2B5EF4-FFF2-40B4-BE49-F238E27FC236}">
                <a16:creationId xmlns:a16="http://schemas.microsoft.com/office/drawing/2014/main" id="{6AA73C66-0D3F-32C1-EEAE-2DE76F249BEF}"/>
              </a:ext>
            </a:extLst>
          </p:cNvPr>
          <p:cNvGraphicFramePr>
            <a:graphicFrameLocks noGrp="1"/>
          </p:cNvGraphicFramePr>
          <p:nvPr>
            <p:ph idx="1"/>
            <p:extLst>
              <p:ext uri="{D42A27DB-BD31-4B8C-83A1-F6EECF244321}">
                <p14:modId xmlns:p14="http://schemas.microsoft.com/office/powerpoint/2010/main" val="1219733517"/>
              </p:ext>
            </p:extLst>
          </p:nvPr>
        </p:nvGraphicFramePr>
        <p:xfrm>
          <a:off x="487363" y="1463166"/>
          <a:ext cx="11239500" cy="4272815"/>
        </p:xfrm>
        <a:graphic>
          <a:graphicData uri="http://schemas.openxmlformats.org/drawingml/2006/table">
            <a:tbl>
              <a:tblPr firstRow="1" bandRow="1">
                <a:tableStyleId>{5C22544A-7EE6-4342-B048-85BDC9FD1C3A}</a:tableStyleId>
              </a:tblPr>
              <a:tblGrid>
                <a:gridCol w="3746500">
                  <a:extLst>
                    <a:ext uri="{9D8B030D-6E8A-4147-A177-3AD203B41FA5}">
                      <a16:colId xmlns:a16="http://schemas.microsoft.com/office/drawing/2014/main" val="4180307205"/>
                    </a:ext>
                  </a:extLst>
                </a:gridCol>
                <a:gridCol w="3746500">
                  <a:extLst>
                    <a:ext uri="{9D8B030D-6E8A-4147-A177-3AD203B41FA5}">
                      <a16:colId xmlns:a16="http://schemas.microsoft.com/office/drawing/2014/main" val="3447479375"/>
                    </a:ext>
                  </a:extLst>
                </a:gridCol>
                <a:gridCol w="3746500">
                  <a:extLst>
                    <a:ext uri="{9D8B030D-6E8A-4147-A177-3AD203B41FA5}">
                      <a16:colId xmlns:a16="http://schemas.microsoft.com/office/drawing/2014/main" val="868485867"/>
                    </a:ext>
                  </a:extLst>
                </a:gridCol>
              </a:tblGrid>
              <a:tr h="625963">
                <a:tc>
                  <a:txBody>
                    <a:bodyPr/>
                    <a:lstStyle/>
                    <a:p>
                      <a:pPr algn="ctr"/>
                      <a:r>
                        <a:rPr lang="en-US"/>
                        <a:t>Temperature</a:t>
                      </a:r>
                      <a:endParaRPr lang="en-US" dirty="0"/>
                    </a:p>
                  </a:txBody>
                  <a:tcPr anchor="ctr"/>
                </a:tc>
                <a:tc>
                  <a:txBody>
                    <a:bodyPr/>
                    <a:lstStyle/>
                    <a:p>
                      <a:pPr algn="ctr"/>
                      <a:r>
                        <a:rPr lang="en-US"/>
                        <a:t>Non-Holiday weeks</a:t>
                      </a:r>
                    </a:p>
                  </a:txBody>
                  <a:tcPr anchor="ctr"/>
                </a:tc>
                <a:tc>
                  <a:txBody>
                    <a:bodyPr/>
                    <a:lstStyle/>
                    <a:p>
                      <a:pPr algn="ctr"/>
                      <a:r>
                        <a:rPr lang="en-US"/>
                        <a:t>Holiday weeks</a:t>
                      </a:r>
                    </a:p>
                  </a:txBody>
                  <a:tcPr anchor="ctr"/>
                </a:tc>
                <a:extLst>
                  <a:ext uri="{0D108BD9-81ED-4DB2-BD59-A6C34878D82A}">
                    <a16:rowId xmlns:a16="http://schemas.microsoft.com/office/drawing/2014/main" val="4053787225"/>
                  </a:ext>
                </a:extLst>
              </a:tr>
              <a:tr h="625963">
                <a:tc>
                  <a:txBody>
                    <a:bodyPr/>
                    <a:lstStyle/>
                    <a:p>
                      <a:pPr algn="ctr"/>
                      <a:r>
                        <a:rPr lang="en-US"/>
                        <a:t>Very cold (&gt;32</a:t>
                      </a:r>
                      <a:r>
                        <a:rPr lang="en-US" sz="1800" b="0" i="0" u="none" strike="noStrike" noProof="0">
                          <a:latin typeface="Poppins"/>
                          <a:cs typeface="Poppins"/>
                        </a:rPr>
                        <a:t>°F</a:t>
                      </a:r>
                      <a:r>
                        <a:rPr lang="en-US" dirty="0"/>
                        <a:t>)</a:t>
                      </a:r>
                    </a:p>
                  </a:txBody>
                  <a:tcPr anchor="ctr"/>
                </a:tc>
                <a:tc>
                  <a:txBody>
                    <a:bodyPr/>
                    <a:lstStyle/>
                    <a:p>
                      <a:pPr algn="ctr"/>
                      <a:r>
                        <a:rPr lang="en-US"/>
                        <a:t>202</a:t>
                      </a:r>
                    </a:p>
                  </a:txBody>
                  <a:tcPr anchor="b"/>
                </a:tc>
                <a:tc>
                  <a:txBody>
                    <a:bodyPr/>
                    <a:lstStyle/>
                    <a:p>
                      <a:pPr algn="ctr"/>
                      <a:r>
                        <a:rPr lang="en-US"/>
                        <a:t>38</a:t>
                      </a:r>
                    </a:p>
                  </a:txBody>
                  <a:tcPr anchor="b"/>
                </a:tc>
                <a:extLst>
                  <a:ext uri="{0D108BD9-81ED-4DB2-BD59-A6C34878D82A}">
                    <a16:rowId xmlns:a16="http://schemas.microsoft.com/office/drawing/2014/main" val="3090815792"/>
                  </a:ext>
                </a:extLst>
              </a:tr>
              <a:tr h="625963">
                <a:tc>
                  <a:txBody>
                    <a:bodyPr/>
                    <a:lstStyle/>
                    <a:p>
                      <a:pPr algn="ctr"/>
                      <a:r>
                        <a:rPr lang="en-US"/>
                        <a:t>Cold (32-50</a:t>
                      </a:r>
                      <a:r>
                        <a:rPr lang="en-US" sz="1800" b="0" i="0" u="none" strike="noStrike" noProof="0">
                          <a:latin typeface="Poppins"/>
                          <a:cs typeface="Poppins"/>
                        </a:rPr>
                        <a:t>°</a:t>
                      </a:r>
                      <a:r>
                        <a:rPr lang="en-US"/>
                        <a:t>F)</a:t>
                      </a:r>
                    </a:p>
                  </a:txBody>
                  <a:tcPr anchor="ctr"/>
                </a:tc>
                <a:tc>
                  <a:txBody>
                    <a:bodyPr/>
                    <a:lstStyle/>
                    <a:p>
                      <a:pPr algn="ctr"/>
                      <a:r>
                        <a:rPr lang="en-US"/>
                        <a:t>493</a:t>
                      </a:r>
                    </a:p>
                  </a:txBody>
                  <a:tcPr anchor="b"/>
                </a:tc>
                <a:tc>
                  <a:txBody>
                    <a:bodyPr/>
                    <a:lstStyle/>
                    <a:p>
                      <a:pPr algn="ctr"/>
                      <a:r>
                        <a:rPr lang="en-US"/>
                        <a:t>71</a:t>
                      </a:r>
                    </a:p>
                  </a:txBody>
                  <a:tcPr anchor="b"/>
                </a:tc>
                <a:extLst>
                  <a:ext uri="{0D108BD9-81ED-4DB2-BD59-A6C34878D82A}">
                    <a16:rowId xmlns:a16="http://schemas.microsoft.com/office/drawing/2014/main" val="3872569681"/>
                  </a:ext>
                </a:extLst>
              </a:tr>
              <a:tr h="625963">
                <a:tc>
                  <a:txBody>
                    <a:bodyPr/>
                    <a:lstStyle/>
                    <a:p>
                      <a:pPr algn="ctr"/>
                      <a:r>
                        <a:rPr lang="en-US"/>
                        <a:t>Comfortable (50-68</a:t>
                      </a:r>
                      <a:r>
                        <a:rPr lang="en-US" sz="1800" b="0" i="0" u="none" strike="noStrike" noProof="0">
                          <a:latin typeface="Poppins"/>
                          <a:cs typeface="Poppins"/>
                        </a:rPr>
                        <a:t>°F)</a:t>
                      </a:r>
                      <a:endParaRPr lang="en-US"/>
                    </a:p>
                  </a:txBody>
                  <a:tcPr anchor="ctr"/>
                </a:tc>
                <a:tc>
                  <a:txBody>
                    <a:bodyPr/>
                    <a:lstStyle/>
                    <a:p>
                      <a:pPr algn="ctr"/>
                      <a:r>
                        <a:rPr lang="en-US"/>
                        <a:t>631</a:t>
                      </a:r>
                    </a:p>
                  </a:txBody>
                  <a:tcPr anchor="b"/>
                </a:tc>
                <a:tc>
                  <a:txBody>
                    <a:bodyPr/>
                    <a:lstStyle/>
                    <a:p>
                      <a:pPr algn="ctr"/>
                      <a:r>
                        <a:rPr lang="en-US"/>
                        <a:t>35</a:t>
                      </a:r>
                    </a:p>
                  </a:txBody>
                  <a:tcPr anchor="b"/>
                </a:tc>
                <a:extLst>
                  <a:ext uri="{0D108BD9-81ED-4DB2-BD59-A6C34878D82A}">
                    <a16:rowId xmlns:a16="http://schemas.microsoft.com/office/drawing/2014/main" val="794575498"/>
                  </a:ext>
                </a:extLst>
              </a:tr>
              <a:tr h="625963">
                <a:tc>
                  <a:txBody>
                    <a:bodyPr/>
                    <a:lstStyle/>
                    <a:p>
                      <a:pPr algn="ctr"/>
                      <a:r>
                        <a:rPr lang="en-US"/>
                        <a:t>Ideal (68-77</a:t>
                      </a:r>
                      <a:r>
                        <a:rPr lang="en-US" sz="1800" b="0" i="0" u="none" strike="noStrike" noProof="0">
                          <a:latin typeface="Poppins"/>
                          <a:cs typeface="Poppins"/>
                        </a:rPr>
                        <a:t>°F)</a:t>
                      </a:r>
                      <a:endParaRPr lang="en-US"/>
                    </a:p>
                  </a:txBody>
                  <a:tcPr anchor="ctr"/>
                </a:tc>
                <a:tc>
                  <a:txBody>
                    <a:bodyPr/>
                    <a:lstStyle/>
                    <a:p>
                      <a:pPr algn="ctr"/>
                      <a:r>
                        <a:rPr lang="en-US"/>
                        <a:t>403</a:t>
                      </a:r>
                    </a:p>
                  </a:txBody>
                  <a:tcPr anchor="b"/>
                </a:tc>
                <a:tc>
                  <a:txBody>
                    <a:bodyPr/>
                    <a:lstStyle/>
                    <a:p>
                      <a:pPr algn="ctr"/>
                      <a:r>
                        <a:rPr lang="en-US"/>
                        <a:t>18</a:t>
                      </a:r>
                    </a:p>
                  </a:txBody>
                  <a:tcPr anchor="b"/>
                </a:tc>
                <a:extLst>
                  <a:ext uri="{0D108BD9-81ED-4DB2-BD59-A6C34878D82A}">
                    <a16:rowId xmlns:a16="http://schemas.microsoft.com/office/drawing/2014/main" val="3215978067"/>
                  </a:ext>
                </a:extLst>
              </a:tr>
              <a:tr h="571500">
                <a:tc>
                  <a:txBody>
                    <a:bodyPr/>
                    <a:lstStyle/>
                    <a:p>
                      <a:pPr algn="ctr"/>
                      <a:r>
                        <a:rPr lang="en-US"/>
                        <a:t>Warm (77-90</a:t>
                      </a:r>
                      <a:r>
                        <a:rPr lang="en-US" sz="1800" b="0" i="0" u="none" strike="noStrike" noProof="0">
                          <a:latin typeface="Poppins"/>
                          <a:cs typeface="Poppins"/>
                        </a:rPr>
                        <a:t>°F</a:t>
                      </a:r>
                      <a:r>
                        <a:rPr lang="en-US" dirty="0"/>
                        <a:t>)</a:t>
                      </a:r>
                      <a:endParaRPr lang="en-US"/>
                    </a:p>
                  </a:txBody>
                  <a:tcPr anchor="ctr"/>
                </a:tc>
                <a:tc>
                  <a:txBody>
                    <a:bodyPr/>
                    <a:lstStyle/>
                    <a:p>
                      <a:pPr algn="ctr"/>
                      <a:r>
                        <a:rPr lang="en-US"/>
                        <a:t>344</a:t>
                      </a:r>
                    </a:p>
                  </a:txBody>
                  <a:tcPr anchor="b"/>
                </a:tc>
                <a:tc>
                  <a:txBody>
                    <a:bodyPr/>
                    <a:lstStyle/>
                    <a:p>
                      <a:pPr algn="ctr"/>
                      <a:r>
                        <a:rPr lang="en-US"/>
                        <a:t>17</a:t>
                      </a:r>
                    </a:p>
                  </a:txBody>
                  <a:tcPr anchor="b"/>
                </a:tc>
                <a:extLst>
                  <a:ext uri="{0D108BD9-81ED-4DB2-BD59-A6C34878D82A}">
                    <a16:rowId xmlns:a16="http://schemas.microsoft.com/office/drawing/2014/main" val="1118686641"/>
                  </a:ext>
                </a:extLst>
              </a:tr>
              <a:tr h="571500">
                <a:tc>
                  <a:txBody>
                    <a:bodyPr/>
                    <a:lstStyle/>
                    <a:p>
                      <a:pPr lvl="0" algn="ctr">
                        <a:buNone/>
                      </a:pPr>
                      <a:r>
                        <a:rPr lang="en-US"/>
                        <a:t>Hot (90</a:t>
                      </a:r>
                      <a:r>
                        <a:rPr lang="en-US" sz="1800" b="0" i="0" u="none" strike="noStrike" noProof="0">
                          <a:latin typeface="Poppins"/>
                          <a:cs typeface="Poppins"/>
                        </a:rPr>
                        <a:t>°F&lt;)</a:t>
                      </a:r>
                      <a:endParaRPr lang="en-US" dirty="0"/>
                    </a:p>
                  </a:txBody>
                  <a:tcPr anchor="ctr"/>
                </a:tc>
                <a:tc>
                  <a:txBody>
                    <a:bodyPr/>
                    <a:lstStyle/>
                    <a:p>
                      <a:pPr lvl="0" algn="ctr">
                        <a:buNone/>
                      </a:pPr>
                      <a:r>
                        <a:rPr lang="en-US"/>
                        <a:t>87</a:t>
                      </a:r>
                      <a:endParaRPr lang="en-US" dirty="0"/>
                    </a:p>
                  </a:txBody>
                  <a:tcPr anchor="b"/>
                </a:tc>
                <a:tc>
                  <a:txBody>
                    <a:bodyPr/>
                    <a:lstStyle/>
                    <a:p>
                      <a:pPr lvl="0" algn="ctr">
                        <a:buNone/>
                      </a:pPr>
                      <a:r>
                        <a:rPr lang="en-US"/>
                        <a:t>1</a:t>
                      </a:r>
                      <a:endParaRPr lang="en-US" dirty="0"/>
                    </a:p>
                  </a:txBody>
                  <a:tcPr anchor="b"/>
                </a:tc>
                <a:extLst>
                  <a:ext uri="{0D108BD9-81ED-4DB2-BD59-A6C34878D82A}">
                    <a16:rowId xmlns:a16="http://schemas.microsoft.com/office/drawing/2014/main" val="1882917407"/>
                  </a:ext>
                </a:extLst>
              </a:tr>
            </a:tbl>
          </a:graphicData>
        </a:graphic>
      </p:graphicFrame>
      <p:sp>
        <p:nvSpPr>
          <p:cNvPr id="5" name="TextBox 4">
            <a:extLst>
              <a:ext uri="{FF2B5EF4-FFF2-40B4-BE49-F238E27FC236}">
                <a16:creationId xmlns:a16="http://schemas.microsoft.com/office/drawing/2014/main" id="{28A76D71-6C69-F0D7-8257-D79AC43E4BBA}"/>
              </a:ext>
            </a:extLst>
          </p:cNvPr>
          <p:cNvSpPr txBox="1"/>
          <p:nvPr/>
        </p:nvSpPr>
        <p:spPr>
          <a:xfrm>
            <a:off x="484766" y="5733128"/>
            <a:ext cx="101110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Poppins"/>
              </a:rPr>
              <a:t>*using year 2011, the only year with complete monthly coverage</a:t>
            </a:r>
            <a:endParaRPr lang="en-US"/>
          </a:p>
        </p:txBody>
      </p:sp>
    </p:spTree>
    <p:extLst>
      <p:ext uri="{BB962C8B-B14F-4D97-AF65-F5344CB8AC3E}">
        <p14:creationId xmlns:p14="http://schemas.microsoft.com/office/powerpoint/2010/main" val="3549446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116C-68B9-1AA5-698F-40EC3D5B718B}"/>
              </a:ext>
            </a:extLst>
          </p:cNvPr>
          <p:cNvSpPr>
            <a:spLocks noGrp="1"/>
          </p:cNvSpPr>
          <p:nvPr>
            <p:ph type="ctrTitle"/>
          </p:nvPr>
        </p:nvSpPr>
        <p:spPr>
          <a:xfrm>
            <a:off x="3262223" y="1358660"/>
            <a:ext cx="8134709" cy="4572000"/>
          </a:xfrm>
        </p:spPr>
        <p:txBody>
          <a:bodyPr/>
          <a:lstStyle/>
          <a:p>
            <a:r>
              <a:rPr lang="en-US">
                <a:cs typeface="Poppins SemiBold"/>
              </a:rPr>
              <a:t>Unemployment Impac</a:t>
            </a:r>
            <a:r>
              <a:rPr lang="en-US" dirty="0">
                <a:cs typeface="Poppins SemiBold"/>
              </a:rPr>
              <a:t>t analysis</a:t>
            </a:r>
          </a:p>
        </p:txBody>
      </p:sp>
    </p:spTree>
    <p:extLst>
      <p:ext uri="{BB962C8B-B14F-4D97-AF65-F5344CB8AC3E}">
        <p14:creationId xmlns:p14="http://schemas.microsoft.com/office/powerpoint/2010/main" val="402444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1A0EFF-A3A3-05CE-4EC4-9D7DBCFB7579}"/>
              </a:ext>
            </a:extLst>
          </p:cNvPr>
          <p:cNvPicPr>
            <a:picLocks noChangeAspect="1"/>
          </p:cNvPicPr>
          <p:nvPr/>
        </p:nvPicPr>
        <p:blipFill>
          <a:blip r:embed="rId2"/>
          <a:stretch>
            <a:fillRect/>
          </a:stretch>
        </p:blipFill>
        <p:spPr>
          <a:xfrm>
            <a:off x="1400175" y="619125"/>
            <a:ext cx="9391650" cy="5619750"/>
          </a:xfrm>
          <a:prstGeom prst="rect">
            <a:avLst/>
          </a:prstGeom>
        </p:spPr>
      </p:pic>
    </p:spTree>
    <p:extLst>
      <p:ext uri="{BB962C8B-B14F-4D97-AF65-F5344CB8AC3E}">
        <p14:creationId xmlns:p14="http://schemas.microsoft.com/office/powerpoint/2010/main" val="2215313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1C075C-44D7-0549-B396-C4FD132B3983}"/>
              </a:ext>
            </a:extLst>
          </p:cNvPr>
          <p:cNvSpPr>
            <a:spLocks noGrp="1"/>
          </p:cNvSpPr>
          <p:nvPr>
            <p:ph sz="quarter" idx="13"/>
          </p:nvPr>
        </p:nvSpPr>
        <p:spPr>
          <a:xfrm>
            <a:off x="1516693" y="253478"/>
            <a:ext cx="9359999" cy="2679940"/>
          </a:xfrm>
        </p:spPr>
        <p:txBody>
          <a:bodyPr vert="horz" lIns="0" tIns="0" rIns="0" bIns="0" rtlCol="0" anchor="t">
            <a:noAutofit/>
          </a:bodyPr>
          <a:lstStyle/>
          <a:p>
            <a:pPr>
              <a:lnSpc>
                <a:spcPct val="100000"/>
              </a:lnSpc>
            </a:pPr>
            <a:r>
              <a:rPr lang="en-US" sz="2400" u="sng">
                <a:ea typeface="+mn-lt"/>
                <a:cs typeface="+mn-lt"/>
              </a:rPr>
              <a:t>Key Findings</a:t>
            </a:r>
            <a:endParaRPr lang="en-US">
              <a:cs typeface="Poppins"/>
            </a:endParaRPr>
          </a:p>
          <a:p>
            <a:pPr>
              <a:lnSpc>
                <a:spcPct val="100000"/>
              </a:lnSpc>
            </a:pPr>
            <a:r>
              <a:rPr lang="en-US" sz="1800" dirty="0">
                <a:ea typeface="+mn-lt"/>
                <a:cs typeface="+mn-lt"/>
              </a:rPr>
              <a:t>• Stores recorded the highest weekly sales during very low unemployment periods (1–5%).</a:t>
            </a:r>
          </a:p>
          <a:p>
            <a:pPr>
              <a:lnSpc>
                <a:spcPct val="100000"/>
              </a:lnSpc>
            </a:pPr>
            <a:r>
              <a:rPr lang="en-US" sz="1800">
                <a:ea typeface="+mn-lt"/>
                <a:cs typeface="+mn-lt"/>
              </a:rPr>
              <a:t>• Sales performance gradually weakened as unemployment levels increased.</a:t>
            </a:r>
            <a:endParaRPr lang="en-US" sz="1800" dirty="0">
              <a:ea typeface="+mn-lt"/>
              <a:cs typeface="+mn-lt"/>
            </a:endParaRPr>
          </a:p>
          <a:p>
            <a:pPr>
              <a:lnSpc>
                <a:spcPct val="100000"/>
              </a:lnSpc>
            </a:pPr>
            <a:r>
              <a:rPr lang="en-US" sz="1800">
                <a:ea typeface="+mn-lt"/>
                <a:cs typeface="+mn-lt"/>
              </a:rPr>
              <a:t>• Holiday weeks consistently produced higher sales than non-holiday weeks across all unemployment ranges.</a:t>
            </a:r>
            <a:endParaRPr lang="en-US" sz="1800" dirty="0">
              <a:ea typeface="+mn-lt"/>
              <a:cs typeface="+mn-lt"/>
            </a:endParaRPr>
          </a:p>
          <a:p>
            <a:pPr>
              <a:lnSpc>
                <a:spcPct val="100000"/>
              </a:lnSpc>
            </a:pPr>
            <a:r>
              <a:rPr lang="en-US" sz="1800" dirty="0">
                <a:ea typeface="+mn-lt"/>
                <a:cs typeface="+mn-lt"/>
              </a:rPr>
              <a:t>• Moderate unemployment ranges still maintained stable sales performance, indicating continued customer demand.</a:t>
            </a:r>
          </a:p>
          <a:p>
            <a:pPr>
              <a:lnSpc>
                <a:spcPct val="100000"/>
              </a:lnSpc>
            </a:pPr>
            <a:r>
              <a:rPr lang="en-US" sz="1800">
                <a:ea typeface="+mn-lt"/>
                <a:cs typeface="+mn-lt"/>
              </a:rPr>
              <a:t>• Extremely high unemployment levels showed reduced consumer spending activity.</a:t>
            </a:r>
            <a:endParaRPr lang="en-US" sz="1800" dirty="0">
              <a:ea typeface="+mn-lt"/>
              <a:cs typeface="+mn-lt"/>
            </a:endParaRPr>
          </a:p>
          <a:p>
            <a:pPr>
              <a:lnSpc>
                <a:spcPct val="100000"/>
              </a:lnSpc>
            </a:pPr>
            <a:r>
              <a:rPr lang="en-US" sz="2000" u="sng">
                <a:ea typeface="+mn-lt"/>
                <a:cs typeface="+mn-lt"/>
              </a:rPr>
              <a:t>Business Insight</a:t>
            </a:r>
            <a:endParaRPr lang="en-US" sz="2000" dirty="0">
              <a:ea typeface="+mn-lt"/>
              <a:cs typeface="+mn-lt"/>
            </a:endParaRPr>
          </a:p>
          <a:p>
            <a:pPr>
              <a:lnSpc>
                <a:spcPct val="100000"/>
              </a:lnSpc>
            </a:pPr>
            <a:r>
              <a:rPr lang="en-US" sz="1800">
                <a:ea typeface="+mn-lt"/>
                <a:cs typeface="+mn-lt"/>
              </a:rPr>
              <a:t>“Customer purchasing power and employment conditions directly influence retail sales performance, especially during non-holiday periods.”</a:t>
            </a:r>
            <a:endParaRPr lang="en-US" sz="1800" dirty="0">
              <a:ea typeface="+mn-lt"/>
              <a:cs typeface="+mn-lt"/>
            </a:endParaRPr>
          </a:p>
          <a:p>
            <a:pPr>
              <a:lnSpc>
                <a:spcPct val="100000"/>
              </a:lnSpc>
            </a:pPr>
            <a:r>
              <a:rPr lang="en-US" sz="2000" u="sng">
                <a:ea typeface="+mn-lt"/>
                <a:cs typeface="+mn-lt"/>
              </a:rPr>
              <a:t>Conclusion</a:t>
            </a:r>
            <a:endParaRPr lang="en-US" sz="2000" dirty="0">
              <a:ea typeface="+mn-lt"/>
              <a:cs typeface="+mn-lt"/>
            </a:endParaRPr>
          </a:p>
          <a:p>
            <a:pPr>
              <a:lnSpc>
                <a:spcPct val="100000"/>
              </a:lnSpc>
            </a:pPr>
            <a:r>
              <a:rPr lang="en-US" sz="1800" dirty="0">
                <a:ea typeface="+mn-lt"/>
                <a:cs typeface="+mn-lt"/>
              </a:rPr>
              <a:t>The analysis suggests that unemployment levels affect Walmart weekly sales by influencing customer spending capacity. Lower unemployment generally supported stronger sales performance, while higher unemployment was associated with weaker weekly sales.</a:t>
            </a:r>
          </a:p>
          <a:p>
            <a:endParaRPr lang="zh-CN" altLang="en-US"/>
          </a:p>
        </p:txBody>
      </p:sp>
    </p:spTree>
    <p:extLst>
      <p:ext uri="{BB962C8B-B14F-4D97-AF65-F5344CB8AC3E}">
        <p14:creationId xmlns:p14="http://schemas.microsoft.com/office/powerpoint/2010/main" val="2007426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9D13D-9ACE-DE0A-E458-47490919420C}"/>
              </a:ext>
            </a:extLst>
          </p:cNvPr>
          <p:cNvSpPr>
            <a:spLocks noGrp="1"/>
          </p:cNvSpPr>
          <p:nvPr>
            <p:ph type="ctrTitle"/>
          </p:nvPr>
        </p:nvSpPr>
        <p:spPr>
          <a:xfrm>
            <a:off x="838200" y="1143000"/>
            <a:ext cx="7315200" cy="4572000"/>
          </a:xfrm>
        </p:spPr>
        <p:txBody>
          <a:bodyPr/>
          <a:lstStyle/>
          <a:p>
            <a:r>
              <a:rPr lang="en-US" altLang="zh-CN" dirty="0">
                <a:cs typeface="Poppins SemiBold"/>
              </a:rPr>
              <a:t>Top 5 vs Bottom 5 </a:t>
            </a:r>
            <a:r>
              <a:rPr lang="en-US" altLang="zh-CN">
                <a:cs typeface="Poppins SemiBold"/>
              </a:rPr>
              <a:t>Analysis</a:t>
            </a:r>
            <a:endParaRPr lang="en-US" altLang="zh-CN" dirty="0">
              <a:cs typeface="Poppins SemiBold"/>
            </a:endParaRPr>
          </a:p>
        </p:txBody>
      </p:sp>
    </p:spTree>
    <p:extLst>
      <p:ext uri="{BB962C8B-B14F-4D97-AF65-F5344CB8AC3E}">
        <p14:creationId xmlns:p14="http://schemas.microsoft.com/office/powerpoint/2010/main" val="2969884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65BCDDF-248A-A700-B4F8-5D68DC2AB887}"/>
              </a:ext>
            </a:extLst>
          </p:cNvPr>
          <p:cNvSpPr>
            <a:spLocks noGrp="1"/>
          </p:cNvSpPr>
          <p:nvPr>
            <p:ph type="body" sz="quarter" idx="34"/>
          </p:nvPr>
        </p:nvSpPr>
        <p:spPr/>
        <p:txBody>
          <a:bodyPr/>
          <a:lstStyle/>
          <a:p>
            <a:endParaRPr lang="en-US"/>
          </a:p>
        </p:txBody>
      </p:sp>
      <p:sp>
        <p:nvSpPr>
          <p:cNvPr id="15" name="Text Placeholder 14">
            <a:extLst>
              <a:ext uri="{FF2B5EF4-FFF2-40B4-BE49-F238E27FC236}">
                <a16:creationId xmlns:a16="http://schemas.microsoft.com/office/drawing/2014/main" id="{F4A0A625-A7F9-961C-4BE8-90F2813540F3}"/>
              </a:ext>
            </a:extLst>
          </p:cNvPr>
          <p:cNvSpPr>
            <a:spLocks noGrp="1"/>
          </p:cNvSpPr>
          <p:nvPr>
            <p:ph type="body" sz="quarter" idx="33"/>
          </p:nvPr>
        </p:nvSpPr>
        <p:spPr/>
        <p:txBody>
          <a:bodyPr/>
          <a:lstStyle/>
          <a:p>
            <a:endParaRPr lang="en-US"/>
          </a:p>
        </p:txBody>
      </p:sp>
      <p:sp>
        <p:nvSpPr>
          <p:cNvPr id="17" name="Text Placeholder 16">
            <a:extLst>
              <a:ext uri="{FF2B5EF4-FFF2-40B4-BE49-F238E27FC236}">
                <a16:creationId xmlns:a16="http://schemas.microsoft.com/office/drawing/2014/main" id="{2783067F-7218-161D-9818-823DF165E3D4}"/>
              </a:ext>
            </a:extLst>
          </p:cNvPr>
          <p:cNvSpPr>
            <a:spLocks noGrp="1"/>
          </p:cNvSpPr>
          <p:nvPr>
            <p:ph type="body" sz="quarter" idx="30"/>
          </p:nvPr>
        </p:nvSpPr>
        <p:spPr/>
        <p:txBody>
          <a:bodyPr/>
          <a:lstStyle/>
          <a:p>
            <a:endParaRPr lang="en-US"/>
          </a:p>
        </p:txBody>
      </p:sp>
      <p:sp>
        <p:nvSpPr>
          <p:cNvPr id="19" name="Text Placeholder 18">
            <a:extLst>
              <a:ext uri="{FF2B5EF4-FFF2-40B4-BE49-F238E27FC236}">
                <a16:creationId xmlns:a16="http://schemas.microsoft.com/office/drawing/2014/main" id="{A38BE56A-8098-4F4F-E06A-B05E71F9858D}"/>
              </a:ext>
            </a:extLst>
          </p:cNvPr>
          <p:cNvSpPr>
            <a:spLocks noGrp="1"/>
          </p:cNvSpPr>
          <p:nvPr>
            <p:ph type="body" sz="quarter" idx="36"/>
          </p:nvPr>
        </p:nvSpPr>
        <p:spPr/>
        <p:txBody>
          <a:bodyPr/>
          <a:lstStyle/>
          <a:p>
            <a:endParaRPr lang="en-US"/>
          </a:p>
        </p:txBody>
      </p:sp>
      <p:sp>
        <p:nvSpPr>
          <p:cNvPr id="21" name="Text Placeholder 20">
            <a:extLst>
              <a:ext uri="{FF2B5EF4-FFF2-40B4-BE49-F238E27FC236}">
                <a16:creationId xmlns:a16="http://schemas.microsoft.com/office/drawing/2014/main" id="{7A0EB8B4-CFC1-F701-2586-D02B983C4673}"/>
              </a:ext>
            </a:extLst>
          </p:cNvPr>
          <p:cNvSpPr>
            <a:spLocks noGrp="1"/>
          </p:cNvSpPr>
          <p:nvPr>
            <p:ph type="body" sz="quarter" idx="35"/>
          </p:nvPr>
        </p:nvSpPr>
        <p:spPr/>
        <p:txBody>
          <a:bodyPr/>
          <a:lstStyle/>
          <a:p>
            <a:endParaRPr lang="en-US"/>
          </a:p>
        </p:txBody>
      </p:sp>
      <p:sp>
        <p:nvSpPr>
          <p:cNvPr id="23" name="Text Placeholder 22">
            <a:extLst>
              <a:ext uri="{FF2B5EF4-FFF2-40B4-BE49-F238E27FC236}">
                <a16:creationId xmlns:a16="http://schemas.microsoft.com/office/drawing/2014/main" id="{31976BE7-3C0D-87AF-B964-1B34B9E62F91}"/>
              </a:ext>
            </a:extLst>
          </p:cNvPr>
          <p:cNvSpPr>
            <a:spLocks noGrp="1"/>
          </p:cNvSpPr>
          <p:nvPr>
            <p:ph type="body" sz="quarter" idx="29"/>
          </p:nvPr>
        </p:nvSpPr>
        <p:spPr/>
        <p:txBody>
          <a:bodyPr/>
          <a:lstStyle/>
          <a:p>
            <a:endParaRPr lang="en-US"/>
          </a:p>
        </p:txBody>
      </p:sp>
      <p:sp>
        <p:nvSpPr>
          <p:cNvPr id="25" name="Text Placeholder 24">
            <a:extLst>
              <a:ext uri="{FF2B5EF4-FFF2-40B4-BE49-F238E27FC236}">
                <a16:creationId xmlns:a16="http://schemas.microsoft.com/office/drawing/2014/main" id="{85CEAD9A-62B1-4647-45A1-ED1CBDE75862}"/>
              </a:ext>
            </a:extLst>
          </p:cNvPr>
          <p:cNvSpPr>
            <a:spLocks noGrp="1"/>
          </p:cNvSpPr>
          <p:nvPr>
            <p:ph type="body" sz="quarter" idx="38"/>
          </p:nvPr>
        </p:nvSpPr>
        <p:spPr/>
        <p:txBody>
          <a:bodyPr/>
          <a:lstStyle/>
          <a:p>
            <a:endParaRPr lang="en-US"/>
          </a:p>
        </p:txBody>
      </p:sp>
      <p:sp>
        <p:nvSpPr>
          <p:cNvPr id="27" name="Text Placeholder 26">
            <a:extLst>
              <a:ext uri="{FF2B5EF4-FFF2-40B4-BE49-F238E27FC236}">
                <a16:creationId xmlns:a16="http://schemas.microsoft.com/office/drawing/2014/main" id="{E91C0675-FC60-D466-FBDE-E30804B911DB}"/>
              </a:ext>
            </a:extLst>
          </p:cNvPr>
          <p:cNvSpPr>
            <a:spLocks noGrp="1"/>
          </p:cNvSpPr>
          <p:nvPr>
            <p:ph type="body" sz="quarter" idx="37"/>
          </p:nvPr>
        </p:nvSpPr>
        <p:spPr/>
        <p:txBody>
          <a:bodyPr/>
          <a:lstStyle/>
          <a:p>
            <a:endParaRPr lang="en-US"/>
          </a:p>
        </p:txBody>
      </p:sp>
      <p:sp>
        <p:nvSpPr>
          <p:cNvPr id="29" name="Text Placeholder 28">
            <a:extLst>
              <a:ext uri="{FF2B5EF4-FFF2-40B4-BE49-F238E27FC236}">
                <a16:creationId xmlns:a16="http://schemas.microsoft.com/office/drawing/2014/main" id="{12992472-DF42-3416-EC68-1ACD8633CA48}"/>
              </a:ext>
            </a:extLst>
          </p:cNvPr>
          <p:cNvSpPr>
            <a:spLocks noGrp="1"/>
          </p:cNvSpPr>
          <p:nvPr>
            <p:ph type="body" sz="quarter" idx="28"/>
          </p:nvPr>
        </p:nvSpPr>
        <p:spPr/>
        <p:txBody>
          <a:bodyPr/>
          <a:lstStyle/>
          <a:p>
            <a:endParaRPr lang="en-US"/>
          </a:p>
        </p:txBody>
      </p:sp>
      <p:sp>
        <p:nvSpPr>
          <p:cNvPr id="31" name="Title 30">
            <a:extLst>
              <a:ext uri="{FF2B5EF4-FFF2-40B4-BE49-F238E27FC236}">
                <a16:creationId xmlns:a16="http://schemas.microsoft.com/office/drawing/2014/main" id="{0244F974-BB68-7BB9-BC2B-C614A852BF1E}"/>
              </a:ext>
            </a:extLst>
          </p:cNvPr>
          <p:cNvSpPr>
            <a:spLocks noGrp="1"/>
          </p:cNvSpPr>
          <p:nvPr>
            <p:ph type="title"/>
          </p:nvPr>
        </p:nvSpPr>
        <p:spPr/>
        <p:txBody>
          <a:bodyPr/>
          <a:lstStyle/>
          <a:p>
            <a:endParaRPr lang="en-US"/>
          </a:p>
        </p:txBody>
      </p:sp>
      <p:pic>
        <p:nvPicPr>
          <p:cNvPr id="32" name="Picture 31">
            <a:extLst>
              <a:ext uri="{FF2B5EF4-FFF2-40B4-BE49-F238E27FC236}">
                <a16:creationId xmlns:a16="http://schemas.microsoft.com/office/drawing/2014/main" id="{01DC93DD-D9FB-9E00-3108-6E4DA1A757E5}"/>
              </a:ext>
            </a:extLst>
          </p:cNvPr>
          <p:cNvPicPr>
            <a:picLocks noChangeAspect="1"/>
          </p:cNvPicPr>
          <p:nvPr/>
        </p:nvPicPr>
        <p:blipFill>
          <a:blip r:embed="rId2"/>
          <a:stretch>
            <a:fillRect/>
          </a:stretch>
        </p:blipFill>
        <p:spPr>
          <a:xfrm>
            <a:off x="920152" y="668223"/>
            <a:ext cx="8885205" cy="6111028"/>
          </a:xfrm>
          <a:prstGeom prst="rect">
            <a:avLst/>
          </a:prstGeom>
        </p:spPr>
      </p:pic>
    </p:spTree>
    <p:extLst>
      <p:ext uri="{BB962C8B-B14F-4D97-AF65-F5344CB8AC3E}">
        <p14:creationId xmlns:p14="http://schemas.microsoft.com/office/powerpoint/2010/main" val="1995648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6CCD0E5D-9FED-3C93-2180-4908DA5DB3EE}"/>
              </a:ext>
            </a:extLst>
          </p:cNvPr>
          <p:cNvSpPr>
            <a:spLocks noGrp="1"/>
          </p:cNvSpPr>
          <p:nvPr>
            <p:ph idx="1"/>
          </p:nvPr>
        </p:nvSpPr>
        <p:spPr>
          <a:xfrm>
            <a:off x="473339" y="1333476"/>
            <a:ext cx="11239214" cy="4610337"/>
          </a:xfrm>
        </p:spPr>
        <p:txBody>
          <a:bodyPr vert="horz" lIns="0" tIns="0" rIns="0" bIns="0" rtlCol="0" anchor="t">
            <a:normAutofit/>
          </a:bodyPr>
          <a:lstStyle/>
          <a:p>
            <a:r>
              <a:rPr lang="en-US" sz="2500" u="sng" dirty="0">
                <a:ea typeface="+mn-lt"/>
                <a:cs typeface="+mn-lt"/>
              </a:rPr>
              <a:t>Key Findings</a:t>
            </a:r>
            <a:r>
              <a:rPr lang="en-US" sz="2000" dirty="0">
                <a:ea typeface="+mn-lt"/>
                <a:cs typeface="+mn-lt"/>
              </a:rPr>
              <a:t> </a:t>
            </a:r>
          </a:p>
          <a:p>
            <a:r>
              <a:rPr lang="en-US" sz="2000" dirty="0">
                <a:ea typeface="+mn-lt"/>
                <a:cs typeface="+mn-lt"/>
              </a:rPr>
              <a:t>• Top-performing stores experienced favorable temperature conditions more frequently. </a:t>
            </a:r>
          </a:p>
          <a:p>
            <a:r>
              <a:rPr lang="en-US" sz="2000">
                <a:ea typeface="+mn-lt"/>
                <a:cs typeface="+mn-lt"/>
              </a:rPr>
              <a:t>• Moderate and ideal </a:t>
            </a:r>
            <a:r>
              <a:rPr lang="en-US" sz="2000" dirty="0">
                <a:ea typeface="+mn-lt"/>
                <a:cs typeface="+mn-lt"/>
              </a:rPr>
              <a:t>temperature ranges aligned with stronger weekly sales performance. </a:t>
            </a:r>
          </a:p>
          <a:p>
            <a:r>
              <a:rPr lang="en-US" sz="2000">
                <a:ea typeface="+mn-lt"/>
                <a:cs typeface="+mn-lt"/>
              </a:rPr>
              <a:t>• Extremely high-temperature weeks occurred less often among top-performing stores.</a:t>
            </a:r>
            <a:endParaRPr lang="en-US" sz="2000" dirty="0">
              <a:ea typeface="+mn-lt"/>
              <a:cs typeface="+mn-lt"/>
            </a:endParaRPr>
          </a:p>
          <a:p>
            <a:r>
              <a:rPr lang="en-US" sz="2000">
                <a:ea typeface="+mn-lt"/>
                <a:cs typeface="+mn-lt"/>
              </a:rPr>
              <a:t>• Holiday periods further strengthened sales performance under suitable weather </a:t>
            </a:r>
            <a:r>
              <a:rPr lang="en-US" sz="2000" dirty="0">
                <a:ea typeface="+mn-lt"/>
                <a:cs typeface="+mn-lt"/>
              </a:rPr>
              <a:t>conditions. </a:t>
            </a:r>
          </a:p>
          <a:p>
            <a:r>
              <a:rPr lang="en-US" sz="2000">
                <a:ea typeface="+mn-lt"/>
                <a:cs typeface="+mn-lt"/>
              </a:rPr>
              <a:t>• </a:t>
            </a:r>
            <a:r>
              <a:rPr lang="en-US" sz="2000" dirty="0">
                <a:ea typeface="+mn-lt"/>
                <a:cs typeface="+mn-lt"/>
              </a:rPr>
              <a:t>Sales patterns suggested stable customer shopping activity during comfortable temperatures.</a:t>
            </a:r>
            <a:endParaRPr lang="en-US" sz="2000">
              <a:cs typeface="Poppins"/>
            </a:endParaRPr>
          </a:p>
        </p:txBody>
      </p:sp>
    </p:spTree>
    <p:extLst>
      <p:ext uri="{BB962C8B-B14F-4D97-AF65-F5344CB8AC3E}">
        <p14:creationId xmlns:p14="http://schemas.microsoft.com/office/powerpoint/2010/main" val="3712588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graph of different colored bars&#10;&#10;AI-generated content may be incorrect.">
            <a:extLst>
              <a:ext uri="{FF2B5EF4-FFF2-40B4-BE49-F238E27FC236}">
                <a16:creationId xmlns:a16="http://schemas.microsoft.com/office/drawing/2014/main" id="{5B2144D2-AE6A-D82D-A4EF-810244E4C813}"/>
              </a:ext>
            </a:extLst>
          </p:cNvPr>
          <p:cNvPicPr>
            <a:picLocks noGrp="1" noChangeAspect="1"/>
          </p:cNvPicPr>
          <p:nvPr>
            <p:ph idx="1"/>
          </p:nvPr>
        </p:nvPicPr>
        <p:blipFill>
          <a:blip r:embed="rId2"/>
          <a:stretch>
            <a:fillRect/>
          </a:stretch>
        </p:blipFill>
        <p:spPr>
          <a:xfrm>
            <a:off x="802078" y="885218"/>
            <a:ext cx="10581735" cy="5075532"/>
          </a:xfrm>
          <a:prstGeom prst="rect">
            <a:avLst/>
          </a:prstGeom>
        </p:spPr>
      </p:pic>
    </p:spTree>
    <p:extLst>
      <p:ext uri="{BB962C8B-B14F-4D97-AF65-F5344CB8AC3E}">
        <p14:creationId xmlns:p14="http://schemas.microsoft.com/office/powerpoint/2010/main" val="3797002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Placeholder 53">
            <a:extLst>
              <a:ext uri="{FF2B5EF4-FFF2-40B4-BE49-F238E27FC236}">
                <a16:creationId xmlns:a16="http://schemas.microsoft.com/office/drawing/2014/main" id="{205E4FAA-12F9-4CE3-0950-3DE822CB0324}"/>
              </a:ext>
            </a:extLst>
          </p:cNvPr>
          <p:cNvSpPr>
            <a:spLocks noGrp="1"/>
          </p:cNvSpPr>
          <p:nvPr>
            <p:ph idx="1"/>
          </p:nvPr>
        </p:nvSpPr>
        <p:spPr>
          <a:xfrm>
            <a:off x="645867" y="772759"/>
            <a:ext cx="11239214" cy="6263732"/>
          </a:xfrm>
        </p:spPr>
        <p:txBody>
          <a:bodyPr vert="horz" lIns="0" tIns="0" rIns="0" bIns="0" rtlCol="0" anchor="t">
            <a:normAutofit/>
          </a:bodyPr>
          <a:lstStyle/>
          <a:p>
            <a:r>
              <a:rPr lang="en-US" sz="2400" u="sng">
                <a:ea typeface="+mn-lt"/>
                <a:cs typeface="+mn-lt"/>
              </a:rPr>
              <a:t>Key Findings</a:t>
            </a:r>
            <a:endParaRPr lang="en-US" sz="2400" u="sng"/>
          </a:p>
          <a:p>
            <a:r>
              <a:rPr lang="en-US" sz="1800" dirty="0">
                <a:ea typeface="+mn-lt"/>
                <a:cs typeface="+mn-lt"/>
              </a:rPr>
              <a:t>• Bottom-performing stores experienced high-temperature weeks more frequently.</a:t>
            </a:r>
            <a:endParaRPr lang="en-US" sz="1800">
              <a:cs typeface="Poppins"/>
            </a:endParaRPr>
          </a:p>
          <a:p>
            <a:r>
              <a:rPr lang="en-US" sz="1800">
                <a:ea typeface="+mn-lt"/>
                <a:cs typeface="+mn-lt"/>
              </a:rPr>
              <a:t>• Extremely hot conditions were associated with comparatively weaker weekly sales.</a:t>
            </a:r>
            <a:endParaRPr lang="en-US" sz="1800">
              <a:cs typeface="Poppins"/>
            </a:endParaRPr>
          </a:p>
          <a:p>
            <a:r>
              <a:rPr lang="en-US" sz="1800">
                <a:ea typeface="+mn-lt"/>
                <a:cs typeface="+mn-lt"/>
              </a:rPr>
              <a:t>• Holiday frequency remained similar to top-performing stores.</a:t>
            </a:r>
            <a:endParaRPr lang="en-US" sz="1800">
              <a:cs typeface="Poppins"/>
            </a:endParaRPr>
          </a:p>
          <a:p>
            <a:r>
              <a:rPr lang="en-US" sz="1800">
                <a:ea typeface="+mn-lt"/>
                <a:cs typeface="+mn-lt"/>
              </a:rPr>
              <a:t>• Temperature conditions appeared less favorable for consistent customer shopping activity.</a:t>
            </a:r>
            <a:endParaRPr lang="en-US" sz="1800">
              <a:cs typeface="Poppins"/>
            </a:endParaRPr>
          </a:p>
          <a:p>
            <a:r>
              <a:rPr lang="en-US" sz="1800">
                <a:ea typeface="+mn-lt"/>
                <a:cs typeface="+mn-lt"/>
              </a:rPr>
              <a:t>• Sales performance showed greater fluctuation during warmer periods.</a:t>
            </a:r>
            <a:endParaRPr lang="en-US" sz="1800" dirty="0">
              <a:ea typeface="+mn-lt"/>
              <a:cs typeface="+mn-lt"/>
            </a:endParaRPr>
          </a:p>
          <a:p>
            <a:endParaRPr lang="en-US" dirty="0">
              <a:cs typeface="Poppins"/>
            </a:endParaRPr>
          </a:p>
          <a:p>
            <a:r>
              <a:rPr lang="en-US" sz="2000" u="sng">
                <a:ea typeface="+mn-lt"/>
                <a:cs typeface="+mn-lt"/>
              </a:rPr>
              <a:t>Combined Conclusion</a:t>
            </a:r>
            <a:endParaRPr lang="en-US" sz="2000" u="sng"/>
          </a:p>
          <a:p>
            <a:r>
              <a:rPr lang="en-US" sz="1800" dirty="0">
                <a:ea typeface="+mn-lt"/>
                <a:cs typeface="+mn-lt"/>
              </a:rPr>
              <a:t>The comparison between top and bottom performing stores suggested that temperature exposure played a stronger role in sales performance differences than holiday occurrence alone. Stores experiencing more favorable temperature conditions generally maintained stronger and more stable weekly sales patterns.</a:t>
            </a:r>
            <a:endParaRPr lang="en-US" sz="1800">
              <a:cs typeface="Poppins"/>
            </a:endParaRPr>
          </a:p>
        </p:txBody>
      </p:sp>
    </p:spTree>
    <p:extLst>
      <p:ext uri="{BB962C8B-B14F-4D97-AF65-F5344CB8AC3E}">
        <p14:creationId xmlns:p14="http://schemas.microsoft.com/office/powerpoint/2010/main" val="2481606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0ECE-E433-1FE2-9F5F-534B426770BC}"/>
              </a:ext>
            </a:extLst>
          </p:cNvPr>
          <p:cNvSpPr>
            <a:spLocks noGrp="1"/>
          </p:cNvSpPr>
          <p:nvPr>
            <p:ph type="ctrTitle"/>
          </p:nvPr>
        </p:nvSpPr>
        <p:spPr/>
        <p:txBody>
          <a:bodyPr/>
          <a:lstStyle/>
          <a:p>
            <a:r>
              <a:rPr lang="en-US">
                <a:cs typeface="Poppins SemiBold"/>
              </a:rPr>
              <a:t>Q&amp;A(Key Insights)</a:t>
            </a:r>
            <a:endParaRPr lang="en-US"/>
          </a:p>
        </p:txBody>
      </p:sp>
    </p:spTree>
    <p:extLst>
      <p:ext uri="{BB962C8B-B14F-4D97-AF65-F5344CB8AC3E}">
        <p14:creationId xmlns:p14="http://schemas.microsoft.com/office/powerpoint/2010/main" val="1740273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8FAB0EF9-3E41-2008-EFB1-4F96E3D823D5}"/>
              </a:ext>
            </a:extLst>
          </p:cNvPr>
          <p:cNvSpPr>
            <a:spLocks noGrp="1"/>
          </p:cNvSpPr>
          <p:nvPr>
            <p:ph idx="1"/>
          </p:nvPr>
        </p:nvSpPr>
        <p:spPr>
          <a:xfrm>
            <a:off x="645868" y="398635"/>
            <a:ext cx="11181705" cy="6230488"/>
          </a:xfrm>
        </p:spPr>
        <p:txBody>
          <a:bodyPr vert="horz" lIns="0" tIns="0" rIns="0" bIns="0" rtlCol="0" anchor="ctr">
            <a:normAutofit/>
          </a:bodyPr>
          <a:lstStyle/>
          <a:p>
            <a:r>
              <a:rPr lang="en-US" sz="2200">
                <a:cs typeface="Poppins"/>
              </a:rPr>
              <a:t>Q1. What caused higher weekly sales?</a:t>
            </a:r>
            <a:endParaRPr lang="en-US" sz="2200" dirty="0">
              <a:cs typeface="Poppins"/>
            </a:endParaRPr>
          </a:p>
          <a:p>
            <a:pPr marL="514350" indent="-514350">
              <a:buAutoNum type="alphaUcPeriod"/>
            </a:pPr>
            <a:r>
              <a:rPr lang="en-US" sz="2200">
                <a:cs typeface="Poppins"/>
              </a:rPr>
              <a:t>Temperature and holiday weeks were the main drivers of higher sales.</a:t>
            </a:r>
            <a:endParaRPr lang="en-US" sz="2200" dirty="0">
              <a:cs typeface="Poppins"/>
            </a:endParaRPr>
          </a:p>
          <a:p>
            <a:endParaRPr lang="en-US" sz="2200" dirty="0">
              <a:cs typeface="Poppins"/>
            </a:endParaRPr>
          </a:p>
          <a:p>
            <a:r>
              <a:rPr lang="en-US" sz="2200">
                <a:cs typeface="Poppins"/>
              </a:rPr>
              <a:t>Q2. Did other variables affect sales significantly?</a:t>
            </a:r>
            <a:endParaRPr lang="en-US" sz="2200" dirty="0">
              <a:cs typeface="Poppins"/>
            </a:endParaRPr>
          </a:p>
          <a:p>
            <a:pPr marL="514350" indent="-514350">
              <a:buAutoNum type="alphaUcPeriod"/>
            </a:pPr>
            <a:r>
              <a:rPr lang="en-US" sz="2200">
                <a:cs typeface="Poppins"/>
              </a:rPr>
              <a:t>CPI, fuel price, and unemployment showed only minor changes in sales.</a:t>
            </a:r>
            <a:endParaRPr lang="en-US" sz="2200" dirty="0">
              <a:cs typeface="Poppins"/>
            </a:endParaRPr>
          </a:p>
          <a:p>
            <a:endParaRPr lang="en-US" sz="2200" dirty="0">
              <a:cs typeface="Poppins"/>
            </a:endParaRPr>
          </a:p>
          <a:p>
            <a:r>
              <a:rPr lang="en-US" sz="2200">
                <a:cs typeface="Poppins"/>
              </a:rPr>
              <a:t>Q3. Why did Comfortable temperatures not outperform Cold temperatures despite having more holiday weeks?</a:t>
            </a:r>
            <a:endParaRPr lang="en-US" sz="2200" dirty="0">
              <a:cs typeface="Poppins"/>
            </a:endParaRPr>
          </a:p>
          <a:p>
            <a:pPr marL="514350" indent="-514350">
              <a:buAutoNum type="alphaUcPeriod"/>
            </a:pPr>
            <a:r>
              <a:rPr lang="en-US" sz="2200" dirty="0">
                <a:cs typeface="Poppins"/>
              </a:rPr>
              <a:t>Higher unemployment during Comfortable temperatures likely reduced customer spending.</a:t>
            </a:r>
          </a:p>
        </p:txBody>
      </p:sp>
    </p:spTree>
    <p:extLst>
      <p:ext uri="{BB962C8B-B14F-4D97-AF65-F5344CB8AC3E}">
        <p14:creationId xmlns:p14="http://schemas.microsoft.com/office/powerpoint/2010/main" val="252925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CBEC45-05F6-ED11-CC1C-B5CF17D1BA1B}"/>
              </a:ext>
            </a:extLst>
          </p:cNvPr>
          <p:cNvSpPr>
            <a:spLocks noGrp="1"/>
          </p:cNvSpPr>
          <p:nvPr>
            <p:ph idx="1"/>
          </p:nvPr>
        </p:nvSpPr>
        <p:spPr/>
        <p:txBody>
          <a:bodyPr vert="horz" lIns="0" tIns="0" rIns="0" bIns="0" rtlCol="0" anchor="t">
            <a:normAutofit/>
          </a:bodyPr>
          <a:lstStyle/>
          <a:p>
            <a:r>
              <a:rPr lang="en-US" sz="2200">
                <a:cs typeface="Poppins"/>
              </a:rPr>
              <a:t>Q4. Does temperature affect sales independently of holidays?</a:t>
            </a:r>
            <a:endParaRPr lang="en-US" sz="2200" dirty="0">
              <a:cs typeface="Poppins"/>
            </a:endParaRPr>
          </a:p>
          <a:p>
            <a:r>
              <a:rPr lang="en-US" sz="2200">
                <a:cs typeface="Poppins"/>
              </a:rPr>
              <a:t>A. Yes. Ideal temperatures generated the highest sales even without havingthe most holiday weeks.</a:t>
            </a:r>
            <a:endParaRPr lang="en-US" sz="2200" dirty="0">
              <a:cs typeface="Poppins"/>
            </a:endParaRPr>
          </a:p>
          <a:p>
            <a:endParaRPr lang="en-US" sz="2200" dirty="0">
              <a:cs typeface="Poppins"/>
            </a:endParaRPr>
          </a:p>
          <a:p>
            <a:r>
              <a:rPr lang="en-US" sz="2200">
                <a:cs typeface="Poppins"/>
              </a:rPr>
              <a:t>Q5. What is the overall conclusion?</a:t>
            </a:r>
            <a:endParaRPr lang="en-US" sz="2200" dirty="0">
              <a:cs typeface="Poppins"/>
            </a:endParaRPr>
          </a:p>
          <a:p>
            <a:pPr>
              <a:lnSpc>
                <a:spcPct val="100000"/>
              </a:lnSpc>
            </a:pPr>
            <a:r>
              <a:rPr lang="en-US" sz="2200">
                <a:cs typeface="Poppins"/>
              </a:rPr>
              <a:t>A. Weekly sales were driven primarily by temperature and holiday timing. Also slightly by unemployment too.</a:t>
            </a:r>
            <a:r>
              <a:rPr lang="en-US" sz="2200" dirty="0">
                <a:cs typeface="Poppins"/>
              </a:rPr>
              <a:t> </a:t>
            </a:r>
            <a:endParaRPr lang="en-US" sz="2400">
              <a:cs typeface="Poppins"/>
            </a:endParaRPr>
          </a:p>
          <a:p>
            <a:endParaRPr lang="en-US" dirty="0">
              <a:cs typeface="Poppins"/>
            </a:endParaRPr>
          </a:p>
        </p:txBody>
      </p:sp>
    </p:spTree>
    <p:extLst>
      <p:ext uri="{BB962C8B-B14F-4D97-AF65-F5344CB8AC3E}">
        <p14:creationId xmlns:p14="http://schemas.microsoft.com/office/powerpoint/2010/main" val="2452467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ctrTitle"/>
          </p:nvPr>
        </p:nvSpPr>
        <p:spPr/>
        <p:txBody>
          <a:bodyPr/>
          <a:lstStyle/>
          <a:p>
            <a:r>
              <a:rPr lang="en-US">
                <a:ea typeface="+mj-lt"/>
                <a:cs typeface="+mj-lt"/>
              </a:rPr>
              <a:t>Business Recommendations</a:t>
            </a:r>
            <a:endParaRPr lang="en-US"/>
          </a:p>
        </p:txBody>
      </p:sp>
    </p:spTree>
    <p:extLst>
      <p:ext uri="{BB962C8B-B14F-4D97-AF65-F5344CB8AC3E}">
        <p14:creationId xmlns:p14="http://schemas.microsoft.com/office/powerpoint/2010/main" val="3049846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505322-2E24-B7D4-623E-3AEFE3106FD9}"/>
              </a:ext>
            </a:extLst>
          </p:cNvPr>
          <p:cNvSpPr>
            <a:spLocks noGrp="1"/>
          </p:cNvSpPr>
          <p:nvPr>
            <p:ph idx="1"/>
          </p:nvPr>
        </p:nvSpPr>
        <p:spPr/>
        <p:txBody>
          <a:bodyPr vert="horz" lIns="0" tIns="0" rIns="0" bIns="0" rtlCol="0" anchor="t">
            <a:normAutofit fontScale="77500" lnSpcReduction="20000"/>
          </a:bodyPr>
          <a:lstStyle/>
          <a:p>
            <a:pPr marL="457200" indent="-457200">
              <a:buChar char="•"/>
            </a:pPr>
            <a:r>
              <a:rPr lang="en-US" sz="2800">
                <a:ea typeface="+mn-lt"/>
                <a:cs typeface="+mn-lt"/>
              </a:rPr>
              <a:t>Increase inventory before holiday weeks to meet higher customer demand.</a:t>
            </a:r>
            <a:endParaRPr lang="en-US">
              <a:ea typeface="+mn-lt"/>
              <a:cs typeface="+mn-lt"/>
            </a:endParaRPr>
          </a:p>
          <a:p>
            <a:pPr marL="285750" indent="-285750">
              <a:buChar char="•"/>
            </a:pPr>
            <a:endParaRPr lang="en-US">
              <a:cs typeface="Poppins"/>
            </a:endParaRPr>
          </a:p>
          <a:p>
            <a:pPr marL="457200" indent="-457200">
              <a:buChar char="•"/>
            </a:pPr>
            <a:r>
              <a:rPr lang="en-US" sz="2800" dirty="0">
                <a:ea typeface="+mn-lt"/>
                <a:cs typeface="+mn-lt"/>
              </a:rPr>
              <a:t>Launch promotions and marketing campaigns during </a:t>
            </a:r>
            <a:r>
              <a:rPr lang="en-US" sz="2800">
                <a:ea typeface="+mn-lt"/>
                <a:cs typeface="+mn-lt"/>
              </a:rPr>
              <a:t>favorable weather </a:t>
            </a:r>
            <a:r>
              <a:rPr lang="en-US" sz="2800" dirty="0">
                <a:ea typeface="+mn-lt"/>
                <a:cs typeface="+mn-lt"/>
              </a:rPr>
              <a:t>conditions.</a:t>
            </a:r>
            <a:endParaRPr lang="en-US" sz="2800" dirty="0">
              <a:cs typeface="Poppins"/>
            </a:endParaRPr>
          </a:p>
          <a:p>
            <a:pPr marL="285750" indent="-285750">
              <a:buChar char="•"/>
            </a:pPr>
            <a:endParaRPr lang="en-US">
              <a:cs typeface="Poppins"/>
            </a:endParaRPr>
          </a:p>
          <a:p>
            <a:pPr marL="457200" indent="-457200">
              <a:buChar char="•"/>
            </a:pPr>
            <a:r>
              <a:rPr lang="en-US" sz="2800">
                <a:ea typeface="+mn-lt"/>
                <a:cs typeface="+mn-lt"/>
              </a:rPr>
              <a:t>Schedule additional staff during holidays and favorable weather conditions.</a:t>
            </a:r>
            <a:endParaRPr lang="en-US">
              <a:ea typeface="+mn-lt"/>
              <a:cs typeface="+mn-lt"/>
            </a:endParaRPr>
          </a:p>
          <a:p>
            <a:pPr marL="285750" indent="-285750">
              <a:buChar char="•"/>
            </a:pPr>
            <a:endParaRPr lang="en-US">
              <a:cs typeface="Poppins"/>
            </a:endParaRPr>
          </a:p>
          <a:p>
            <a:pPr marL="457200" indent="-457200">
              <a:buChar char="•"/>
            </a:pPr>
            <a:r>
              <a:rPr lang="en-US" sz="2800">
                <a:ea typeface="+mn-lt"/>
                <a:cs typeface="+mn-lt"/>
              </a:rPr>
              <a:t>Use temperature and holiday timing as key inputs in sales forecasting.</a:t>
            </a:r>
            <a:endParaRPr lang="en-US">
              <a:cs typeface="Poppins"/>
            </a:endParaRPr>
          </a:p>
          <a:p>
            <a:pPr marL="285750" indent="-285750">
              <a:buChar char="•"/>
            </a:pPr>
            <a:endParaRPr lang="en-US">
              <a:cs typeface="Poppins"/>
            </a:endParaRPr>
          </a:p>
          <a:p>
            <a:pPr marL="457200" indent="-457200">
              <a:buChar char="•"/>
            </a:pPr>
            <a:r>
              <a:rPr lang="en-US" sz="2800">
                <a:ea typeface="+mn-lt"/>
                <a:cs typeface="+mn-lt"/>
              </a:rPr>
              <a:t>Monitor economic indicators such as unemployment as supporting factors.</a:t>
            </a:r>
            <a:endParaRPr lang="en-US">
              <a:ea typeface="+mn-lt"/>
              <a:cs typeface="+mn-lt"/>
            </a:endParaRPr>
          </a:p>
        </p:txBody>
      </p:sp>
    </p:spTree>
    <p:extLst>
      <p:ext uri="{BB962C8B-B14F-4D97-AF65-F5344CB8AC3E}">
        <p14:creationId xmlns:p14="http://schemas.microsoft.com/office/powerpoint/2010/main" val="2491707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1C71F-72E1-7946-819C-EAEE62F14B89}"/>
              </a:ext>
            </a:extLst>
          </p:cNvPr>
          <p:cNvSpPr>
            <a:spLocks noGrp="1"/>
          </p:cNvSpPr>
          <p:nvPr>
            <p:ph type="ctrTitle"/>
          </p:nvPr>
        </p:nvSpPr>
        <p:spPr/>
        <p:txBody>
          <a:bodyPr/>
          <a:lstStyle/>
          <a:p>
            <a:r>
              <a:rPr lang="en-US">
                <a:ea typeface="+mj-lt"/>
                <a:cs typeface="+mj-lt"/>
              </a:rPr>
              <a:t>Conclusion</a:t>
            </a:r>
            <a:endParaRPr lang="en-US"/>
          </a:p>
        </p:txBody>
      </p:sp>
    </p:spTree>
    <p:extLst>
      <p:ext uri="{BB962C8B-B14F-4D97-AF65-F5344CB8AC3E}">
        <p14:creationId xmlns:p14="http://schemas.microsoft.com/office/powerpoint/2010/main" val="3685437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75EE7-F385-D998-1CA2-4A9ED87CF82D}"/>
              </a:ext>
            </a:extLst>
          </p:cNvPr>
          <p:cNvSpPr>
            <a:spLocks noGrp="1"/>
          </p:cNvSpPr>
          <p:nvPr>
            <p:ph idx="1"/>
          </p:nvPr>
        </p:nvSpPr>
        <p:spPr>
          <a:xfrm>
            <a:off x="502094" y="1333164"/>
            <a:ext cx="10577857" cy="4203281"/>
          </a:xfrm>
        </p:spPr>
        <p:txBody>
          <a:bodyPr vert="horz" lIns="0" tIns="0" rIns="0" bIns="0" rtlCol="0" anchor="ctr">
            <a:normAutofit/>
          </a:bodyPr>
          <a:lstStyle/>
          <a:p>
            <a:pPr>
              <a:lnSpc>
                <a:spcPct val="150000"/>
              </a:lnSpc>
            </a:pPr>
            <a:r>
              <a:rPr lang="en-US" sz="2400" i="1">
                <a:ea typeface="+mn-lt"/>
                <a:cs typeface="+mn-lt"/>
              </a:rPr>
              <a:t>This project explored how environmental and economic factors influence Walmart weekly sales using Python-based analysis and visualization techniques. </a:t>
            </a:r>
            <a:endParaRPr lang="en-US"/>
          </a:p>
          <a:p>
            <a:pPr>
              <a:lnSpc>
                <a:spcPct val="150000"/>
              </a:lnSpc>
            </a:pPr>
            <a:r>
              <a:rPr lang="en-US" sz="2400" i="1">
                <a:ea typeface="+mn-lt"/>
                <a:cs typeface="+mn-lt"/>
              </a:rPr>
              <a:t>The analysis showed that holidays, temperature conditions, and economic variables contributed to sales fluctuations across stores.</a:t>
            </a:r>
            <a:endParaRPr lang="en-US" sz="2400" i="1">
              <a:cs typeface="Poppins"/>
            </a:endParaRPr>
          </a:p>
        </p:txBody>
      </p:sp>
    </p:spTree>
    <p:extLst>
      <p:ext uri="{BB962C8B-B14F-4D97-AF65-F5344CB8AC3E}">
        <p14:creationId xmlns:p14="http://schemas.microsoft.com/office/powerpoint/2010/main" val="3475946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89BF-DD77-7127-6049-FD1A1EAAA2E8}"/>
              </a:ext>
            </a:extLst>
          </p:cNvPr>
          <p:cNvSpPr>
            <a:spLocks noGrp="1"/>
          </p:cNvSpPr>
          <p:nvPr>
            <p:ph type="title"/>
          </p:nvPr>
        </p:nvSpPr>
        <p:spPr>
          <a:xfrm>
            <a:off x="1472445" y="-259459"/>
            <a:ext cx="9437258" cy="2454796"/>
          </a:xfrm>
        </p:spPr>
        <p:txBody>
          <a:bodyPr>
            <a:normAutofit/>
          </a:bodyPr>
          <a:lstStyle/>
          <a:p>
            <a:pPr algn="ctr"/>
            <a:r>
              <a:rPr lang="en-US" sz="4000">
                <a:ea typeface="+mj-lt"/>
                <a:cs typeface="+mj-lt"/>
              </a:rPr>
              <a:t>Python Workflow</a:t>
            </a:r>
            <a:endParaRPr lang="en-US">
              <a:cs typeface="Poppins SemiBold"/>
            </a:endParaRPr>
          </a:p>
        </p:txBody>
      </p:sp>
      <p:sp>
        <p:nvSpPr>
          <p:cNvPr id="3" name="Content Placeholder 2">
            <a:extLst>
              <a:ext uri="{FF2B5EF4-FFF2-40B4-BE49-F238E27FC236}">
                <a16:creationId xmlns:a16="http://schemas.microsoft.com/office/drawing/2014/main" id="{F1B98CFD-B6C6-049F-7DCE-9696680C28B4}"/>
              </a:ext>
            </a:extLst>
          </p:cNvPr>
          <p:cNvSpPr>
            <a:spLocks noGrp="1"/>
          </p:cNvSpPr>
          <p:nvPr>
            <p:ph sz="quarter" idx="13"/>
          </p:nvPr>
        </p:nvSpPr>
        <p:spPr>
          <a:xfrm>
            <a:off x="897319" y="1725226"/>
            <a:ext cx="10814275" cy="3164225"/>
          </a:xfrm>
        </p:spPr>
        <p:txBody>
          <a:bodyPr vert="horz" lIns="0" tIns="0" rIns="0" bIns="0" rtlCol="0" anchor="t">
            <a:normAutofit/>
          </a:bodyPr>
          <a:lstStyle/>
          <a:p>
            <a:r>
              <a:rPr lang="en-US" sz="2850">
                <a:ea typeface="+mn-lt"/>
                <a:cs typeface="+mn-lt"/>
              </a:rPr>
              <a:t>Python was used for:</a:t>
            </a:r>
            <a:endParaRPr lang="en-US" sz="2850">
              <a:cs typeface="Poppins"/>
            </a:endParaRPr>
          </a:p>
          <a:p>
            <a:r>
              <a:rPr lang="en-US" sz="2000">
                <a:ea typeface="+mn-lt"/>
                <a:cs typeface="+mn-lt"/>
              </a:rPr>
              <a:t>• Data cleaning</a:t>
            </a:r>
            <a:endParaRPr lang="en-US" sz="2000">
              <a:cs typeface="Poppins"/>
            </a:endParaRPr>
          </a:p>
          <a:p>
            <a:r>
              <a:rPr lang="en-US" sz="2000">
                <a:ea typeface="+mn-lt"/>
                <a:cs typeface="+mn-lt"/>
              </a:rPr>
              <a:t>• Grouping and categorization</a:t>
            </a:r>
            <a:endParaRPr lang="en-US" sz="2000">
              <a:cs typeface="Poppins"/>
            </a:endParaRPr>
          </a:p>
          <a:p>
            <a:r>
              <a:rPr lang="en-US" sz="2000">
                <a:ea typeface="+mn-lt"/>
                <a:cs typeface="+mn-lt"/>
              </a:rPr>
              <a:t>• Comparative analysis</a:t>
            </a:r>
            <a:endParaRPr lang="en-US" sz="2000">
              <a:cs typeface="Poppins"/>
            </a:endParaRPr>
          </a:p>
          <a:p>
            <a:r>
              <a:rPr lang="en-US" sz="2000">
                <a:ea typeface="+mn-lt"/>
                <a:cs typeface="+mn-lt"/>
              </a:rPr>
              <a:t>• Data visualization</a:t>
            </a:r>
            <a:endParaRPr lang="en-US" sz="2000">
              <a:cs typeface="Poppins"/>
            </a:endParaRPr>
          </a:p>
          <a:p>
            <a:r>
              <a:rPr lang="en-US" sz="2000">
                <a:ea typeface="+mn-lt"/>
                <a:cs typeface="+mn-lt"/>
              </a:rPr>
              <a:t>• Correlation analysis</a:t>
            </a:r>
            <a:endParaRPr lang="en-US" sz="2000">
              <a:cs typeface="Poppins"/>
            </a:endParaRPr>
          </a:p>
        </p:txBody>
      </p:sp>
      <p:sp>
        <p:nvSpPr>
          <p:cNvPr id="5" name="TextBox 4">
            <a:extLst>
              <a:ext uri="{FF2B5EF4-FFF2-40B4-BE49-F238E27FC236}">
                <a16:creationId xmlns:a16="http://schemas.microsoft.com/office/drawing/2014/main" id="{1E326E86-4370-79F6-1DA0-D9A639CB3868}"/>
              </a:ext>
            </a:extLst>
          </p:cNvPr>
          <p:cNvSpPr txBox="1"/>
          <p:nvPr/>
        </p:nvSpPr>
        <p:spPr>
          <a:xfrm>
            <a:off x="900311" y="5110002"/>
            <a:ext cx="9284897"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800" dirty="0">
                <a:ea typeface="+mn-lt"/>
                <a:cs typeface="+mn-lt"/>
              </a:rPr>
              <a:t>Multiple analytical approaches were tested to identify meaningful patterns in sales fluctuations.</a:t>
            </a:r>
            <a:endParaRPr lang="en-US" sz="2400">
              <a:cs typeface="Poppins"/>
            </a:endParaRPr>
          </a:p>
        </p:txBody>
      </p:sp>
    </p:spTree>
    <p:extLst>
      <p:ext uri="{BB962C8B-B14F-4D97-AF65-F5344CB8AC3E}">
        <p14:creationId xmlns:p14="http://schemas.microsoft.com/office/powerpoint/2010/main" val="1825582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64ABF-42EF-85E7-CC2E-3962D0F17F22}"/>
              </a:ext>
            </a:extLst>
          </p:cNvPr>
          <p:cNvSpPr>
            <a:spLocks noGrp="1"/>
          </p:cNvSpPr>
          <p:nvPr>
            <p:ph type="title"/>
          </p:nvPr>
        </p:nvSpPr>
        <p:spPr>
          <a:xfrm>
            <a:off x="281726" y="469911"/>
            <a:ext cx="6027061" cy="3626477"/>
          </a:xfrm>
        </p:spPr>
        <p:txBody>
          <a:bodyPr/>
          <a:lstStyle/>
          <a:p>
            <a:pPr algn="ctr"/>
            <a:r>
              <a:rPr lang="en-US">
                <a:cs typeface="Poppins SemiBold"/>
              </a:rPr>
              <a:t>Thank You</a:t>
            </a:r>
          </a:p>
        </p:txBody>
      </p:sp>
    </p:spTree>
    <p:extLst>
      <p:ext uri="{BB962C8B-B14F-4D97-AF65-F5344CB8AC3E}">
        <p14:creationId xmlns:p14="http://schemas.microsoft.com/office/powerpoint/2010/main" val="1917635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customXml/itemProps3.xml><?xml version="1.0" encoding="utf-8"?>
<ds:datastoreItem xmlns:ds="http://schemas.openxmlformats.org/officeDocument/2006/customXml" ds:itemID="{9D30487B-DABF-4867-96A4-274E17D0360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0</TotalTime>
  <Words>600</Words>
  <Application>Microsoft Office PowerPoint</Application>
  <PresentationFormat>Widescreen</PresentationFormat>
  <Paragraphs>146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Custom</vt:lpstr>
      <vt:lpstr>Retail Sales Analysis with Python : Walmart Case Study</vt:lpstr>
      <vt:lpstr>Business Problem :</vt:lpstr>
      <vt:lpstr>Dataset Overview</vt:lpstr>
      <vt:lpstr>PowerPoint Presentation</vt:lpstr>
      <vt:lpstr>Challenges Faced</vt:lpstr>
      <vt:lpstr>Holiday Impact Analysis</vt:lpstr>
      <vt:lpstr>PowerPoint Presentation</vt:lpstr>
      <vt:lpstr>Temperature Impact Analysis</vt:lpstr>
      <vt:lpstr>Competitive Advantages</vt:lpstr>
      <vt:lpstr>PowerPoint Presentation</vt:lpstr>
      <vt:lpstr>Temperature + Holiday Impact analysis</vt:lpstr>
      <vt:lpstr>PowerPoint Presentation</vt:lpstr>
      <vt:lpstr>PowerPoint Presentation</vt:lpstr>
      <vt:lpstr>No. Of Holidays as per Temperature</vt:lpstr>
      <vt:lpstr>Unemployment Impact analysis</vt:lpstr>
      <vt:lpstr>PowerPoint Presentation</vt:lpstr>
      <vt:lpstr>PowerPoint Presentation</vt:lpstr>
      <vt:lpstr>Top 5 vs Bottom 5 Analysis</vt:lpstr>
      <vt:lpstr>PowerPoint Presentation</vt:lpstr>
      <vt:lpstr>PowerPoint Presentation</vt:lpstr>
      <vt:lpstr>PowerPoint Presentation</vt:lpstr>
      <vt:lpstr>PowerPoint Presentation</vt:lpstr>
      <vt:lpstr>Q&amp;A(Key Insights)</vt:lpstr>
      <vt:lpstr>PowerPoint Presentation</vt:lpstr>
      <vt:lpstr>PowerPoint Presentation</vt:lpstr>
      <vt:lpstr>Business Recommendations</vt:lpstr>
      <vt:lpstr>PowerPoint Presentation</vt:lpstr>
      <vt:lpstr>Conclusion</vt:lpstr>
      <vt:lpstr>PowerPoint Presentation</vt:lpstr>
      <vt:lpstr>Python Workflow</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767</cp:revision>
  <dcterms:created xsi:type="dcterms:W3CDTF">2026-05-07T07:08:23Z</dcterms:created>
  <dcterms:modified xsi:type="dcterms:W3CDTF">2026-05-09T16:27:05Z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